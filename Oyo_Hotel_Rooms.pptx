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4"/>
  </p:notesMasterIdLst>
  <p:sldIdLst>
    <p:sldId id="256" r:id="rId2"/>
    <p:sldId id="280" r:id="rId3"/>
    <p:sldId id="278" r:id="rId4"/>
    <p:sldId id="261" r:id="rId5"/>
    <p:sldId id="281" r:id="rId6"/>
    <p:sldId id="263" r:id="rId7"/>
    <p:sldId id="265" r:id="rId8"/>
    <p:sldId id="297" r:id="rId9"/>
    <p:sldId id="296" r:id="rId10"/>
    <p:sldId id="264" r:id="rId11"/>
    <p:sldId id="266" r:id="rId12"/>
    <p:sldId id="267" r:id="rId13"/>
    <p:sldId id="282" r:id="rId14"/>
    <p:sldId id="283" r:id="rId15"/>
    <p:sldId id="284" r:id="rId16"/>
    <p:sldId id="285" r:id="rId17"/>
    <p:sldId id="286" r:id="rId18"/>
    <p:sldId id="287" r:id="rId19"/>
    <p:sldId id="288" r:id="rId20"/>
    <p:sldId id="289" r:id="rId21"/>
    <p:sldId id="290" r:id="rId22"/>
    <p:sldId id="291" r:id="rId23"/>
    <p:sldId id="293" r:id="rId24"/>
    <p:sldId id="298" r:id="rId25"/>
    <p:sldId id="299" r:id="rId26"/>
    <p:sldId id="300" r:id="rId27"/>
    <p:sldId id="301" r:id="rId28"/>
    <p:sldId id="302" r:id="rId29"/>
    <p:sldId id="276" r:id="rId30"/>
    <p:sldId id="295" r:id="rId31"/>
    <p:sldId id="259" r:id="rId32"/>
    <p:sldId id="294" r:id="rId33"/>
  </p:sldIdLst>
  <p:sldSz cx="12192000" cy="6858000"/>
  <p:notesSz cx="6858000" cy="9144000"/>
  <p:embeddedFontLst>
    <p:embeddedFont>
      <p:font typeface="Libre Baskerville" panose="02000000000000000000" pitchFamily="2" charset="0"/>
      <p:regular r:id="rId35"/>
      <p:bold r:id="rId36"/>
      <p: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4660"/>
  </p:normalViewPr>
  <p:slideViewPr>
    <p:cSldViewPr snapToGrid="0">
      <p:cViewPr>
        <p:scale>
          <a:sx n="66" d="100"/>
          <a:sy n="66" d="100"/>
        </p:scale>
        <p:origin x="1074" y="36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3</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193305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8</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70639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13</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60844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21</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273375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D62AA37B-3AFB-F95C-1479-A55A2AFC4C5E}"/>
            </a:ext>
          </a:extLst>
        </p:cNvPr>
        <p:cNvGrpSpPr/>
        <p:nvPr/>
      </p:nvGrpSpPr>
      <p:grpSpPr>
        <a:xfrm>
          <a:off x="0" y="0"/>
          <a:ext cx="0" cy="0"/>
          <a:chOff x="0" y="0"/>
          <a:chExt cx="0" cy="0"/>
        </a:xfrm>
      </p:grpSpPr>
      <p:sp>
        <p:nvSpPr>
          <p:cNvPr id="113" name="Google Shape;113;p5:notes">
            <a:extLst>
              <a:ext uri="{FF2B5EF4-FFF2-40B4-BE49-F238E27FC236}">
                <a16:creationId xmlns:a16="http://schemas.microsoft.com/office/drawing/2014/main" id="{426A14D5-57DC-1535-F830-7E506F5075F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a:extLst>
              <a:ext uri="{FF2B5EF4-FFF2-40B4-BE49-F238E27FC236}">
                <a16:creationId xmlns:a16="http://schemas.microsoft.com/office/drawing/2014/main" id="{5B350644-8005-98F8-E5CB-C2F973483AA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3054009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4" r:id="rId4"/>
    <p:sldLayoutId id="2147483655"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vamshidhar00/" TargetMode="External"/><Relationship Id="rId2" Type="http://schemas.openxmlformats.org/officeDocument/2006/relationships/hyperlink" Target="https://github.com/Masireddyvamshi/oyo-rooms-analytics-project"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536842"/>
            <a:ext cx="12190815" cy="6694098"/>
          </a:xfrm>
          <a:prstGeom prst="rect">
            <a:avLst/>
          </a:prstGeom>
          <a:noFill/>
          <a:ln>
            <a:noFill/>
          </a:ln>
        </p:spPr>
      </p:pic>
      <p:sp>
        <p:nvSpPr>
          <p:cNvPr id="4" name="TextBox 3">
            <a:extLst>
              <a:ext uri="{FF2B5EF4-FFF2-40B4-BE49-F238E27FC236}">
                <a16:creationId xmlns:a16="http://schemas.microsoft.com/office/drawing/2014/main" id="{EBCC5244-CD1C-B957-E40D-E5D18679EF2B}"/>
              </a:ext>
            </a:extLst>
          </p:cNvPr>
          <p:cNvSpPr txBox="1"/>
          <p:nvPr/>
        </p:nvSpPr>
        <p:spPr>
          <a:xfrm>
            <a:off x="1104644" y="4860435"/>
            <a:ext cx="9291286" cy="1200329"/>
          </a:xfrm>
          <a:prstGeom prst="rect">
            <a:avLst/>
          </a:prstGeom>
          <a:noFill/>
        </p:spPr>
        <p:txBody>
          <a:bodyPr wrap="square" rtlCol="0">
            <a:spAutoFit/>
          </a:bodyPr>
          <a:lstStyle/>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Title:</a:t>
            </a:r>
            <a:r>
              <a:rPr lang="en-US" sz="2400" dirty="0">
                <a:latin typeface="Times New Roman" panose="02020603050405020304" pitchFamily="18" charset="0"/>
                <a:cs typeface="Times New Roman" panose="02020603050405020304" pitchFamily="18" charset="0"/>
              </a:rPr>
              <a:t> Web Scraping and Exploratory Data Analysis of OYO Rooms 	Hotel Data</a:t>
            </a:r>
          </a:p>
        </p:txBody>
      </p:sp>
      <p:pic>
        <p:nvPicPr>
          <p:cNvPr id="5" name="Picture 4">
            <a:extLst>
              <a:ext uri="{FF2B5EF4-FFF2-40B4-BE49-F238E27FC236}">
                <a16:creationId xmlns:a16="http://schemas.microsoft.com/office/drawing/2014/main" id="{2F4D484B-21C6-8F12-48E7-5D3FE5BFF3D3}"/>
              </a:ext>
            </a:extLst>
          </p:cNvPr>
          <p:cNvPicPr>
            <a:picLocks noChangeAspect="1"/>
          </p:cNvPicPr>
          <p:nvPr/>
        </p:nvPicPr>
        <p:blipFill>
          <a:blip r:embed="rId4"/>
          <a:stretch>
            <a:fillRect/>
          </a:stretch>
        </p:blipFill>
        <p:spPr>
          <a:xfrm>
            <a:off x="4312428" y="3064603"/>
            <a:ext cx="3403928" cy="185207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0BCD2-097C-AB08-F476-BFB1E155ADCF}"/>
              </a:ext>
            </a:extLst>
          </p:cNvPr>
          <p:cNvSpPr>
            <a:spLocks noGrp="1"/>
          </p:cNvSpPr>
          <p:nvPr>
            <p:ph type="title"/>
          </p:nvPr>
        </p:nvSpPr>
        <p:spPr>
          <a:xfrm>
            <a:off x="531434" y="241238"/>
            <a:ext cx="10515600" cy="991727"/>
          </a:xfrm>
        </p:spPr>
        <p:txBody>
          <a:bodyPr/>
          <a:lstStyle/>
          <a:p>
            <a:r>
              <a:rPr lang="en-US" b="1" dirty="0">
                <a:latin typeface="Times New Roman" panose="02020603050405020304" pitchFamily="18" charset="0"/>
                <a:cs typeface="Times New Roman" panose="02020603050405020304" pitchFamily="18" charset="0"/>
              </a:rPr>
              <a:t>About Me:</a:t>
            </a:r>
          </a:p>
        </p:txBody>
      </p:sp>
      <p:sp>
        <p:nvSpPr>
          <p:cNvPr id="5" name="Rectangle 2">
            <a:extLst>
              <a:ext uri="{FF2B5EF4-FFF2-40B4-BE49-F238E27FC236}">
                <a16:creationId xmlns:a16="http://schemas.microsoft.com/office/drawing/2014/main" id="{FC665FCE-6507-5A11-7EB2-5FF0E06A5C5C}"/>
              </a:ext>
            </a:extLst>
          </p:cNvPr>
          <p:cNvSpPr>
            <a:spLocks noChangeArrowheads="1"/>
          </p:cNvSpPr>
          <p:nvPr/>
        </p:nvSpPr>
        <p:spPr bwMode="auto">
          <a:xfrm>
            <a:off x="531434" y="1201941"/>
            <a:ext cx="10978207"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 </a:t>
            </a: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am Vamshidhar Reddy, a B.Tech graduate in Computer Science and Engineering with a strong interest in Data Analytics and Data Science.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Passionate about working with real-world data to identify patterns and extract meaningful insights.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Experienced in web data collection, data cleaning, and exploratory data analysis.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Comfortable using Python-based tools for data processing and data </a:t>
            </a:r>
            <a:r>
              <a:rPr kumimoji="0" lang="en-US" altLang="en-US" sz="200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visualization.Continuously</a:t>
            </a: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learning and applying machine learning and advanced analytical techniques to solve real-world problems.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GitHub</a:t>
            </a: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hlinkClick r:id="rId2"/>
              </a:rPr>
              <a:t>https://github.com/Masireddyvamshi/oyo-rooms-analytics-project</a:t>
            </a:r>
            <a:endPar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LinkedIn</a:t>
            </a: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hlinkClick r:id="rId3"/>
              </a:rPr>
              <a:t>https://www.linkedin.com/in/vamshidhar00</a:t>
            </a:r>
            <a:endPar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26531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01898-F3F3-4391-5B5D-C100FB686C0E}"/>
              </a:ext>
            </a:extLst>
          </p:cNvPr>
          <p:cNvSpPr>
            <a:spLocks noGrp="1"/>
          </p:cNvSpPr>
          <p:nvPr>
            <p:ph type="title"/>
          </p:nvPr>
        </p:nvSpPr>
        <p:spPr>
          <a:xfrm>
            <a:off x="637622" y="276635"/>
            <a:ext cx="10515600" cy="915035"/>
          </a:xfrm>
        </p:spPr>
        <p:txBody>
          <a:bodyPr/>
          <a:lstStyle/>
          <a:p>
            <a:r>
              <a:rPr lang="en-IN" b="1" dirty="0">
                <a:solidFill>
                  <a:schemeClr val="tx1"/>
                </a:solidFill>
                <a:latin typeface="Times New Roman" panose="02020603050405020304" pitchFamily="18" charset="0"/>
                <a:cs typeface="Times New Roman" panose="02020603050405020304" pitchFamily="18" charset="0"/>
              </a:rPr>
              <a:t>Preface:</a:t>
            </a:r>
          </a:p>
        </p:txBody>
      </p:sp>
      <p:sp>
        <p:nvSpPr>
          <p:cNvPr id="3" name="Text Placeholder 2">
            <a:extLst>
              <a:ext uri="{FF2B5EF4-FFF2-40B4-BE49-F238E27FC236}">
                <a16:creationId xmlns:a16="http://schemas.microsoft.com/office/drawing/2014/main" id="{2883F87A-8911-2A6B-0436-A3C21B64F8B1}"/>
              </a:ext>
            </a:extLst>
          </p:cNvPr>
          <p:cNvSpPr>
            <a:spLocks noGrp="1"/>
          </p:cNvSpPr>
          <p:nvPr>
            <p:ph type="body" idx="1"/>
          </p:nvPr>
        </p:nvSpPr>
        <p:spPr>
          <a:xfrm>
            <a:off x="1235177" y="1191669"/>
            <a:ext cx="9721645" cy="5161935"/>
          </a:xfrm>
        </p:spPr>
        <p:txBody>
          <a:bodyPr>
            <a:normAutofit fontScale="47500" lnSpcReduction="20000"/>
          </a:bodyPr>
          <a:lstStyle/>
          <a:p>
            <a:pPr indent="-457200">
              <a:lnSpc>
                <a:spcPct val="150000"/>
              </a:lnSpc>
              <a:buFont typeface="Wingdings" panose="05000000000000000000" pitchFamily="2" charset="2"/>
              <a:buChar char="Ø"/>
            </a:pPr>
            <a:r>
              <a:rPr lang="en-US" sz="4200" b="1" dirty="0">
                <a:solidFill>
                  <a:schemeClr val="tx1"/>
                </a:solidFill>
                <a:latin typeface="Times New Roman" panose="02020603050405020304" pitchFamily="18" charset="0"/>
                <a:cs typeface="Times New Roman" panose="02020603050405020304" pitchFamily="18" charset="0"/>
              </a:rPr>
              <a:t>INTRODUCTION</a:t>
            </a:r>
          </a:p>
          <a:p>
            <a:pPr indent="-457200">
              <a:lnSpc>
                <a:spcPct val="150000"/>
              </a:lnSpc>
              <a:buFont typeface="Wingdings" panose="05000000000000000000" pitchFamily="2" charset="2"/>
              <a:buChar char="Ø"/>
            </a:pPr>
            <a:r>
              <a:rPr lang="en-US" sz="4200" b="1" dirty="0">
                <a:solidFill>
                  <a:schemeClr val="tx1"/>
                </a:solidFill>
                <a:latin typeface="Times New Roman" panose="02020603050405020304" pitchFamily="18" charset="0"/>
                <a:cs typeface="Times New Roman" panose="02020603050405020304" pitchFamily="18" charset="0"/>
              </a:rPr>
              <a:t>BUSINESS PROBLEM </a:t>
            </a:r>
          </a:p>
          <a:p>
            <a:pPr indent="-457200">
              <a:lnSpc>
                <a:spcPct val="150000"/>
              </a:lnSpc>
              <a:buFont typeface="Wingdings" panose="05000000000000000000" pitchFamily="2" charset="2"/>
              <a:buChar char="Ø"/>
            </a:pPr>
            <a:r>
              <a:rPr lang="en-US" sz="4200" b="1" dirty="0">
                <a:solidFill>
                  <a:schemeClr val="tx1"/>
                </a:solidFill>
                <a:latin typeface="Times New Roman" panose="02020603050405020304" pitchFamily="18" charset="0"/>
                <a:cs typeface="Times New Roman" panose="02020603050405020304" pitchFamily="18" charset="0"/>
              </a:rPr>
              <a:t>OBJECTIVE</a:t>
            </a:r>
          </a:p>
          <a:p>
            <a:pPr indent="-457200">
              <a:lnSpc>
                <a:spcPct val="150000"/>
              </a:lnSpc>
              <a:buFont typeface="Wingdings" panose="05000000000000000000" pitchFamily="2" charset="2"/>
              <a:buChar char="Ø"/>
            </a:pPr>
            <a:r>
              <a:rPr lang="en-US" sz="4200" b="1" dirty="0">
                <a:solidFill>
                  <a:schemeClr val="tx1"/>
                </a:solidFill>
                <a:latin typeface="Times New Roman" panose="02020603050405020304" pitchFamily="18" charset="0"/>
                <a:cs typeface="Times New Roman" panose="02020603050405020304" pitchFamily="18" charset="0"/>
              </a:rPr>
              <a:t>TOOLS USED</a:t>
            </a:r>
          </a:p>
          <a:p>
            <a:pPr indent="-457200">
              <a:lnSpc>
                <a:spcPct val="150000"/>
              </a:lnSpc>
              <a:buFont typeface="Wingdings" panose="05000000000000000000" pitchFamily="2" charset="2"/>
              <a:buChar char="Ø"/>
            </a:pPr>
            <a:r>
              <a:rPr lang="en-US" sz="4200" b="1" dirty="0">
                <a:solidFill>
                  <a:schemeClr val="tx1"/>
                </a:solidFill>
                <a:latin typeface="Times New Roman" panose="02020603050405020304" pitchFamily="18" charset="0"/>
                <a:cs typeface="Times New Roman" panose="02020603050405020304" pitchFamily="18" charset="0"/>
              </a:rPr>
              <a:t>WEB SCRAPPING</a:t>
            </a:r>
          </a:p>
          <a:p>
            <a:pPr indent="-457200">
              <a:lnSpc>
                <a:spcPct val="150000"/>
              </a:lnSpc>
              <a:buFont typeface="Wingdings" panose="05000000000000000000" pitchFamily="2" charset="2"/>
              <a:buChar char="Ø"/>
            </a:pPr>
            <a:r>
              <a:rPr lang="en-US" sz="4200" b="1" dirty="0">
                <a:solidFill>
                  <a:schemeClr val="tx1"/>
                </a:solidFill>
                <a:latin typeface="Times New Roman" panose="02020603050405020304" pitchFamily="18" charset="0"/>
                <a:cs typeface="Times New Roman" panose="02020603050405020304" pitchFamily="18" charset="0"/>
              </a:rPr>
              <a:t>DATA CLEANING STEPS</a:t>
            </a:r>
          </a:p>
          <a:p>
            <a:pPr indent="-457200">
              <a:lnSpc>
                <a:spcPct val="150000"/>
              </a:lnSpc>
              <a:buFont typeface="Wingdings" panose="05000000000000000000" pitchFamily="2" charset="2"/>
              <a:buChar char="Ø"/>
            </a:pPr>
            <a:r>
              <a:rPr lang="en-US" sz="4200" b="1" dirty="0">
                <a:solidFill>
                  <a:schemeClr val="tx1"/>
                </a:solidFill>
                <a:latin typeface="Times New Roman" panose="02020603050405020304" pitchFamily="18" charset="0"/>
                <a:cs typeface="Times New Roman" panose="02020603050405020304" pitchFamily="18" charset="0"/>
              </a:rPr>
              <a:t>DATA VISUALIZATION</a:t>
            </a:r>
          </a:p>
          <a:p>
            <a:pPr indent="-457200">
              <a:lnSpc>
                <a:spcPct val="150000"/>
              </a:lnSpc>
              <a:buFont typeface="Wingdings" panose="05000000000000000000" pitchFamily="2" charset="2"/>
              <a:buChar char="Ø"/>
            </a:pPr>
            <a:r>
              <a:rPr lang="en-US" sz="4200" b="1" dirty="0">
                <a:latin typeface="Times New Roman" panose="02020603050405020304" pitchFamily="18" charset="0"/>
                <a:ea typeface="Calibri" panose="020F0502020204030204" pitchFamily="34" charset="0"/>
                <a:cs typeface="Times New Roman" panose="02020603050405020304" pitchFamily="18" charset="0"/>
              </a:rPr>
              <a:t>FINAL</a:t>
            </a:r>
            <a:r>
              <a:rPr lang="en-US" sz="4200" b="1" spc="-75" dirty="0">
                <a:latin typeface="Times New Roman" panose="02020603050405020304" pitchFamily="18" charset="0"/>
                <a:ea typeface="Calibri" panose="020F0502020204030204" pitchFamily="34" charset="0"/>
                <a:cs typeface="Times New Roman" panose="02020603050405020304" pitchFamily="18" charset="0"/>
              </a:rPr>
              <a:t> </a:t>
            </a:r>
            <a:r>
              <a:rPr lang="en-US" sz="4200" b="1" dirty="0">
                <a:latin typeface="Times New Roman" panose="02020603050405020304" pitchFamily="18" charset="0"/>
                <a:ea typeface="Calibri" panose="020F0502020204030204" pitchFamily="34" charset="0"/>
                <a:cs typeface="Times New Roman" panose="02020603050405020304" pitchFamily="18" charset="0"/>
              </a:rPr>
              <a:t>BUSINESS</a:t>
            </a:r>
            <a:r>
              <a:rPr lang="en-US" sz="4200" b="1" spc="-70" dirty="0">
                <a:latin typeface="Times New Roman" panose="02020603050405020304" pitchFamily="18" charset="0"/>
                <a:ea typeface="Calibri" panose="020F0502020204030204" pitchFamily="34" charset="0"/>
                <a:cs typeface="Times New Roman" panose="02020603050405020304" pitchFamily="18" charset="0"/>
              </a:rPr>
              <a:t> </a:t>
            </a:r>
            <a:r>
              <a:rPr lang="en-US" sz="4200" b="1" dirty="0">
                <a:latin typeface="Times New Roman" panose="02020603050405020304" pitchFamily="18" charset="0"/>
                <a:ea typeface="Calibri" panose="020F0502020204030204" pitchFamily="34" charset="0"/>
                <a:cs typeface="Times New Roman" panose="02020603050405020304" pitchFamily="18" charset="0"/>
              </a:rPr>
              <a:t>INSIGHTS</a:t>
            </a:r>
            <a:r>
              <a:rPr lang="en-US" sz="4200" b="1" spc="-70" dirty="0">
                <a:latin typeface="Times New Roman" panose="02020603050405020304" pitchFamily="18" charset="0"/>
                <a:ea typeface="Calibri" panose="020F0502020204030204" pitchFamily="34" charset="0"/>
                <a:cs typeface="Times New Roman" panose="02020603050405020304" pitchFamily="18" charset="0"/>
              </a:rPr>
              <a:t> </a:t>
            </a:r>
            <a:r>
              <a:rPr lang="en-US" sz="4200" b="1" dirty="0">
                <a:latin typeface="Times New Roman" panose="02020603050405020304" pitchFamily="18" charset="0"/>
                <a:ea typeface="Calibri" panose="020F0502020204030204" pitchFamily="34" charset="0"/>
                <a:cs typeface="Times New Roman" panose="02020603050405020304" pitchFamily="18" charset="0"/>
              </a:rPr>
              <a:t>AND</a:t>
            </a:r>
            <a:r>
              <a:rPr lang="en-US" sz="4200" b="1" spc="-70" dirty="0">
                <a:latin typeface="Times New Roman" panose="02020603050405020304" pitchFamily="18" charset="0"/>
                <a:ea typeface="Calibri" panose="020F0502020204030204" pitchFamily="34" charset="0"/>
                <a:cs typeface="Times New Roman" panose="02020603050405020304" pitchFamily="18" charset="0"/>
              </a:rPr>
              <a:t> </a:t>
            </a:r>
            <a:r>
              <a:rPr lang="en-US" sz="4200" b="1" spc="-10" dirty="0">
                <a:latin typeface="Times New Roman" panose="02020603050405020304" pitchFamily="18" charset="0"/>
                <a:ea typeface="Calibri" panose="020F0502020204030204" pitchFamily="34" charset="0"/>
                <a:cs typeface="Times New Roman" panose="02020603050405020304" pitchFamily="18" charset="0"/>
              </a:rPr>
              <a:t>RECOMMENDATIONS</a:t>
            </a:r>
            <a:endParaRPr lang="en-US" sz="42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indent="-457200">
              <a:lnSpc>
                <a:spcPct val="150000"/>
              </a:lnSpc>
              <a:buFont typeface="Wingdings" panose="05000000000000000000" pitchFamily="2" charset="2"/>
              <a:buChar char="Ø"/>
            </a:pPr>
            <a:r>
              <a:rPr lang="en-US" sz="4200" b="1" dirty="0">
                <a:solidFill>
                  <a:schemeClr val="tx1"/>
                </a:solidFill>
                <a:latin typeface="Times New Roman" panose="02020603050405020304" pitchFamily="18" charset="0"/>
                <a:cs typeface="Times New Roman" panose="02020603050405020304" pitchFamily="18" charset="0"/>
              </a:rPr>
              <a:t>CONCLUSION</a:t>
            </a:r>
          </a:p>
          <a:p>
            <a:pPr marL="0" indent="0">
              <a:lnSpc>
                <a:spcPct val="150000"/>
              </a:lnSpc>
              <a:buNone/>
            </a:pPr>
            <a:endParaRPr lang="en-IN" dirty="0"/>
          </a:p>
        </p:txBody>
      </p:sp>
    </p:spTree>
    <p:extLst>
      <p:ext uri="{BB962C8B-B14F-4D97-AF65-F5344CB8AC3E}">
        <p14:creationId xmlns:p14="http://schemas.microsoft.com/office/powerpoint/2010/main" val="155252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5C60B-D09B-73C1-83C7-5B8D1B695E16}"/>
              </a:ext>
            </a:extLst>
          </p:cNvPr>
          <p:cNvSpPr>
            <a:spLocks noGrp="1"/>
          </p:cNvSpPr>
          <p:nvPr>
            <p:ph type="title"/>
          </p:nvPr>
        </p:nvSpPr>
        <p:spPr>
          <a:xfrm>
            <a:off x="495545" y="289068"/>
            <a:ext cx="10498393" cy="989759"/>
          </a:xfrm>
        </p:spPr>
        <p:txBody>
          <a:bodyPr>
            <a:normAutofit/>
          </a:bodyPr>
          <a:lstStyle/>
          <a:p>
            <a:r>
              <a:rPr lang="en-IN" sz="4000" b="1" dirty="0">
                <a:solidFill>
                  <a:schemeClr val="tx1"/>
                </a:solidFill>
                <a:latin typeface="Times New Roman" panose="02020603050405020304" pitchFamily="18" charset="0"/>
                <a:cs typeface="Times New Roman" panose="02020603050405020304" pitchFamily="18" charset="0"/>
              </a:rPr>
              <a:t>Introduction:</a:t>
            </a:r>
          </a:p>
        </p:txBody>
      </p:sp>
      <p:sp>
        <p:nvSpPr>
          <p:cNvPr id="5" name="AutoShape 4" descr="IMDb Yellow Logo on Transparent Background">
            <a:extLst>
              <a:ext uri="{FF2B5EF4-FFF2-40B4-BE49-F238E27FC236}">
                <a16:creationId xmlns:a16="http://schemas.microsoft.com/office/drawing/2014/main" id="{B22221D8-FFB4-69A5-0E6B-CFA11E559A8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AmbitionBox - Salary &amp; Reviews – Apps on Google Play">
            <a:extLst>
              <a:ext uri="{FF2B5EF4-FFF2-40B4-BE49-F238E27FC236}">
                <a16:creationId xmlns:a16="http://schemas.microsoft.com/office/drawing/2014/main" id="{9F4D67FC-92D3-6EE8-165B-2A06CBBE8CA9}"/>
              </a:ext>
            </a:extLst>
          </p:cNvPr>
          <p:cNvSpPr>
            <a:spLocks noChangeAspect="1" noChangeArrowheads="1"/>
          </p:cNvSpPr>
          <p:nvPr/>
        </p:nvSpPr>
        <p:spPr bwMode="auto">
          <a:xfrm>
            <a:off x="6096000" y="1798608"/>
            <a:ext cx="1935192" cy="19351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TextBox 10">
            <a:extLst>
              <a:ext uri="{FF2B5EF4-FFF2-40B4-BE49-F238E27FC236}">
                <a16:creationId xmlns:a16="http://schemas.microsoft.com/office/drawing/2014/main" id="{BB4DC401-98E3-E9DE-4E5F-9C526CFD359C}"/>
              </a:ext>
            </a:extLst>
          </p:cNvPr>
          <p:cNvSpPr txBox="1"/>
          <p:nvPr/>
        </p:nvSpPr>
        <p:spPr>
          <a:xfrm>
            <a:off x="678426" y="1490831"/>
            <a:ext cx="6215860" cy="3693319"/>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OYO Rooms is a leading hospitality platform that provides affordable and standardized hotel stays across India and several international markets.</a:t>
            </a:r>
          </a:p>
          <a:p>
            <a:pPr marL="342900" indent="-34290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It was founded in 2013 by Ritesh Agarwal.</a:t>
            </a:r>
          </a:p>
          <a:p>
            <a:pPr marL="342900" indent="-34290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OYO’s goal is to make quality accommodation accessible and affordable for travelers.</a:t>
            </a:r>
          </a:p>
          <a:p>
            <a:pPr marL="342900" indent="-34290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The platform partners with hotels to offer budget-friendly rooms with consistent amenities and services.</a:t>
            </a:r>
          </a:p>
          <a:p>
            <a:pPr marL="342900" indent="-34290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OYO also uses data and technology to optimize pricing, improve customer experience, and support hotel partners.</a:t>
            </a:r>
          </a:p>
          <a:p>
            <a:endParaRPr lang="en-IN" dirty="0"/>
          </a:p>
        </p:txBody>
      </p:sp>
      <p:pic>
        <p:nvPicPr>
          <p:cNvPr id="13" name="Picture 12">
            <a:extLst>
              <a:ext uri="{FF2B5EF4-FFF2-40B4-BE49-F238E27FC236}">
                <a16:creationId xmlns:a16="http://schemas.microsoft.com/office/drawing/2014/main" id="{21FB12D4-8A54-1F17-5EA2-6ACE322065BB}"/>
              </a:ext>
            </a:extLst>
          </p:cNvPr>
          <p:cNvPicPr>
            <a:picLocks noChangeAspect="1"/>
          </p:cNvPicPr>
          <p:nvPr/>
        </p:nvPicPr>
        <p:blipFill>
          <a:blip r:embed="rId2"/>
          <a:stretch>
            <a:fillRect/>
          </a:stretch>
        </p:blipFill>
        <p:spPr>
          <a:xfrm>
            <a:off x="7973136" y="1286654"/>
            <a:ext cx="3406064" cy="2959100"/>
          </a:xfrm>
          <a:prstGeom prst="rect">
            <a:avLst/>
          </a:prstGeom>
        </p:spPr>
      </p:pic>
    </p:spTree>
    <p:extLst>
      <p:ext uri="{BB962C8B-B14F-4D97-AF65-F5344CB8AC3E}">
        <p14:creationId xmlns:p14="http://schemas.microsoft.com/office/powerpoint/2010/main" val="2859894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8D8E4-E110-A56B-CF40-8DF4088243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C757C9-6048-86FD-D462-6C4061560167}"/>
              </a:ext>
            </a:extLst>
          </p:cNvPr>
          <p:cNvSpPr>
            <a:spLocks noGrp="1"/>
          </p:cNvSpPr>
          <p:nvPr>
            <p:ph type="title"/>
          </p:nvPr>
        </p:nvSpPr>
        <p:spPr>
          <a:xfrm>
            <a:off x="495545" y="289068"/>
            <a:ext cx="10498393" cy="989759"/>
          </a:xfrm>
        </p:spPr>
        <p:txBody>
          <a:bodyPr>
            <a:normAutofit/>
          </a:bodyPr>
          <a:lstStyle/>
          <a:p>
            <a:r>
              <a:rPr lang="en-IN" sz="4000" b="1" dirty="0">
                <a:solidFill>
                  <a:schemeClr val="tx1"/>
                </a:solidFill>
                <a:latin typeface="Times New Roman" panose="02020603050405020304" pitchFamily="18" charset="0"/>
                <a:cs typeface="Times New Roman" panose="02020603050405020304" pitchFamily="18" charset="0"/>
              </a:rPr>
              <a:t>Business Problem:</a:t>
            </a:r>
          </a:p>
        </p:txBody>
      </p:sp>
      <p:sp>
        <p:nvSpPr>
          <p:cNvPr id="5" name="AutoShape 4" descr="IMDb Yellow Logo on Transparent Background">
            <a:extLst>
              <a:ext uri="{FF2B5EF4-FFF2-40B4-BE49-F238E27FC236}">
                <a16:creationId xmlns:a16="http://schemas.microsoft.com/office/drawing/2014/main" id="{53F8E77D-A54D-37AC-0CFB-13F9D3FF7B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AmbitionBox - Salary &amp; Reviews – Apps on Google Play">
            <a:extLst>
              <a:ext uri="{FF2B5EF4-FFF2-40B4-BE49-F238E27FC236}">
                <a16:creationId xmlns:a16="http://schemas.microsoft.com/office/drawing/2014/main" id="{B546583E-4336-B42B-A208-E8DBEF2661E8}"/>
              </a:ext>
            </a:extLst>
          </p:cNvPr>
          <p:cNvSpPr>
            <a:spLocks noChangeAspect="1" noChangeArrowheads="1"/>
          </p:cNvSpPr>
          <p:nvPr/>
        </p:nvSpPr>
        <p:spPr bwMode="auto">
          <a:xfrm>
            <a:off x="6096000" y="1798608"/>
            <a:ext cx="1935192" cy="19351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6" name="Rectangle 1">
            <a:extLst>
              <a:ext uri="{FF2B5EF4-FFF2-40B4-BE49-F238E27FC236}">
                <a16:creationId xmlns:a16="http://schemas.microsoft.com/office/drawing/2014/main" id="{800AA484-2840-C2F2-774E-C74DFE1487CD}"/>
              </a:ext>
            </a:extLst>
          </p:cNvPr>
          <p:cNvSpPr>
            <a:spLocks noChangeArrowheads="1"/>
          </p:cNvSpPr>
          <p:nvPr/>
        </p:nvSpPr>
        <p:spPr bwMode="auto">
          <a:xfrm>
            <a:off x="495545" y="1124939"/>
            <a:ext cx="10067925"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Hotel pricing data across online platforms is highly variable and influenced by multiple factors such as city, hotel type, amenities, and customer ratings.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Customers struggle to understand price differences between similar hotels and identify value-for-money options.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Hotel operators lack clear, data-driven insights into how pricing, ratings, and amenities impact hotel popularity and customer preference.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There is limited visibility into pricing patterns across cities and hotel categories, making benchmarking difficult.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There is a need for data-driven analysis to understand pricing behavior, customer ratings, and popularity trends to support better decision-making for both customers and businesses.</a:t>
            </a:r>
          </a:p>
        </p:txBody>
      </p:sp>
    </p:spTree>
    <p:extLst>
      <p:ext uri="{BB962C8B-B14F-4D97-AF65-F5344CB8AC3E}">
        <p14:creationId xmlns:p14="http://schemas.microsoft.com/office/powerpoint/2010/main" val="3967736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AFAD8-355A-6C86-DAAE-3E3F9DC686CB}"/>
              </a:ext>
            </a:extLst>
          </p:cNvPr>
          <p:cNvSpPr>
            <a:spLocks noGrp="1"/>
          </p:cNvSpPr>
          <p:nvPr>
            <p:ph type="title"/>
          </p:nvPr>
        </p:nvSpPr>
        <p:spPr>
          <a:xfrm>
            <a:off x="100781" y="430018"/>
            <a:ext cx="2907890" cy="909136"/>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Objectives:</a:t>
            </a:r>
          </a:p>
        </p:txBody>
      </p:sp>
      <p:sp>
        <p:nvSpPr>
          <p:cNvPr id="3" name="Text Placeholder 2">
            <a:extLst>
              <a:ext uri="{FF2B5EF4-FFF2-40B4-BE49-F238E27FC236}">
                <a16:creationId xmlns:a16="http://schemas.microsoft.com/office/drawing/2014/main" id="{552E286A-B439-A981-0498-5FBB8AF70FC4}"/>
              </a:ext>
            </a:extLst>
          </p:cNvPr>
          <p:cNvSpPr>
            <a:spLocks noGrp="1"/>
          </p:cNvSpPr>
          <p:nvPr>
            <p:ph type="body" idx="1"/>
          </p:nvPr>
        </p:nvSpPr>
        <p:spPr>
          <a:xfrm>
            <a:off x="34106" y="1197497"/>
            <a:ext cx="9721645" cy="3383505"/>
          </a:xfrm>
        </p:spPr>
        <p:txBody>
          <a:bodyPr>
            <a:normAutofit/>
          </a:bodyPr>
          <a:lstStyle/>
          <a:p>
            <a:pPr>
              <a:buFont typeface="Wingdings" panose="05000000000000000000" pitchFamily="2" charset="2"/>
              <a:buChar char="Ø"/>
            </a:pPr>
            <a:r>
              <a:rPr lang="en-US" sz="2000" dirty="0"/>
              <a:t>To analyze and compare OYO Rooms hotels using pricing, ratings, amenities, and popularity data across different cities.</a:t>
            </a:r>
          </a:p>
          <a:p>
            <a:pPr>
              <a:buFont typeface="Wingdings" panose="05000000000000000000" pitchFamily="2" charset="2"/>
              <a:buChar char="Ø"/>
            </a:pPr>
            <a:r>
              <a:rPr lang="en-US" sz="2000" dirty="0"/>
              <a:t>To provide data-driven insights that help customers identify value-for-money hotels based on price, ratings, and amenities.</a:t>
            </a:r>
          </a:p>
          <a:p>
            <a:pPr>
              <a:buFont typeface="Wingdings" panose="05000000000000000000" pitchFamily="2" charset="2"/>
              <a:buChar char="Ø"/>
            </a:pPr>
            <a:r>
              <a:rPr lang="en-US" sz="2000" dirty="0"/>
              <a:t>To explore pricing patterns and customer preference trends across different hotel types and locations.</a:t>
            </a:r>
          </a:p>
          <a:p>
            <a:pPr>
              <a:buFont typeface="Wingdings" panose="05000000000000000000" pitchFamily="2" charset="2"/>
              <a:buChar char="Ø"/>
            </a:pPr>
            <a:r>
              <a:rPr lang="en-US" sz="2000" dirty="0"/>
              <a:t>To understand the impact of hotel categories and amenities on final pricing and hotel popularity.</a:t>
            </a:r>
          </a:p>
        </p:txBody>
      </p:sp>
    </p:spTree>
    <p:extLst>
      <p:ext uri="{BB962C8B-B14F-4D97-AF65-F5344CB8AC3E}">
        <p14:creationId xmlns:p14="http://schemas.microsoft.com/office/powerpoint/2010/main" val="3991027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F9875-408F-AAEB-E616-9F7F913C414D}"/>
              </a:ext>
            </a:extLst>
          </p:cNvPr>
          <p:cNvSpPr>
            <a:spLocks noGrp="1"/>
          </p:cNvSpPr>
          <p:nvPr>
            <p:ph type="title"/>
          </p:nvPr>
        </p:nvSpPr>
        <p:spPr>
          <a:xfrm>
            <a:off x="318541" y="425011"/>
            <a:ext cx="3657623" cy="684068"/>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Web Scraping:</a:t>
            </a:r>
          </a:p>
        </p:txBody>
      </p:sp>
      <p:sp>
        <p:nvSpPr>
          <p:cNvPr id="7" name="Rectangle 1">
            <a:extLst>
              <a:ext uri="{FF2B5EF4-FFF2-40B4-BE49-F238E27FC236}">
                <a16:creationId xmlns:a16="http://schemas.microsoft.com/office/drawing/2014/main" id="{92D32AED-CB49-E574-9F4F-929965B68CA1}"/>
              </a:ext>
            </a:extLst>
          </p:cNvPr>
          <p:cNvSpPr>
            <a:spLocks noChangeArrowheads="1"/>
          </p:cNvSpPr>
          <p:nvPr/>
        </p:nvSpPr>
        <p:spPr bwMode="auto">
          <a:xfrm>
            <a:off x="384628" y="1338174"/>
            <a:ext cx="6988629"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OYO Rooms website was selected as the data source to collect hotel-level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Used browser developer tools (Inspect Element) to identify relevant HTML tags containing hotel details.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Extracted hotel data such as hotel name, city, price, ratings, amenities, and hotel type from web pages.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Performed data cleaning and preprocessing to structure the scraped data for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Conducted Exploratory Data Analysis (EDA) to identify pricing patterns and customer trends.</a:t>
            </a:r>
          </a:p>
        </p:txBody>
      </p:sp>
      <p:pic>
        <p:nvPicPr>
          <p:cNvPr id="9" name="Picture 8">
            <a:extLst>
              <a:ext uri="{FF2B5EF4-FFF2-40B4-BE49-F238E27FC236}">
                <a16:creationId xmlns:a16="http://schemas.microsoft.com/office/drawing/2014/main" id="{3DACD583-0675-75E2-C27F-D493624E41A0}"/>
              </a:ext>
            </a:extLst>
          </p:cNvPr>
          <p:cNvPicPr>
            <a:picLocks noChangeAspect="1"/>
          </p:cNvPicPr>
          <p:nvPr/>
        </p:nvPicPr>
        <p:blipFill>
          <a:blip r:embed="rId2"/>
          <a:stretch>
            <a:fillRect/>
          </a:stretch>
        </p:blipFill>
        <p:spPr>
          <a:xfrm>
            <a:off x="7801428" y="873578"/>
            <a:ext cx="4072031" cy="3582307"/>
          </a:xfrm>
          <a:prstGeom prst="rect">
            <a:avLst/>
          </a:prstGeom>
        </p:spPr>
      </p:pic>
    </p:spTree>
    <p:extLst>
      <p:ext uri="{BB962C8B-B14F-4D97-AF65-F5344CB8AC3E}">
        <p14:creationId xmlns:p14="http://schemas.microsoft.com/office/powerpoint/2010/main" val="296424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C04593-A764-F8A6-2B2F-F08797EDE253}"/>
              </a:ext>
            </a:extLst>
          </p:cNvPr>
          <p:cNvSpPr txBox="1"/>
          <p:nvPr/>
        </p:nvSpPr>
        <p:spPr>
          <a:xfrm>
            <a:off x="548638" y="1083923"/>
            <a:ext cx="8489173" cy="5632311"/>
          </a:xfrm>
          <a:prstGeom prst="rect">
            <a:avLst/>
          </a:prstGeom>
          <a:noFill/>
        </p:spPr>
        <p:txBody>
          <a:bodyPr wrap="square">
            <a:spAutoFit/>
          </a:bodyPr>
          <a:lstStyle/>
          <a:p>
            <a:pPr marL="342900" indent="-342900" algn="just">
              <a:buFont typeface="Wingdings" panose="05000000000000000000" pitchFamily="2" charset="2"/>
              <a:buChar char="Ø"/>
            </a:pPr>
            <a:r>
              <a:rPr lang="en-US" sz="2000" b="1" dirty="0" err="1">
                <a:latin typeface="Calibri" panose="020F0502020204030204" pitchFamily="34" charset="0"/>
                <a:ea typeface="Calibri" panose="020F0502020204030204" pitchFamily="34" charset="0"/>
                <a:cs typeface="Calibri" panose="020F0502020204030204" pitchFamily="34" charset="0"/>
              </a:rPr>
              <a:t>Final_Price</a:t>
            </a:r>
            <a:r>
              <a:rPr lang="en-US" sz="2000" dirty="0">
                <a:latin typeface="Calibri" panose="020F0502020204030204" pitchFamily="34" charset="0"/>
                <a:ea typeface="Calibri" panose="020F0502020204030204" pitchFamily="34" charset="0"/>
                <a:cs typeface="Calibri" panose="020F0502020204030204" pitchFamily="34" charset="0"/>
              </a:rPr>
              <a:t> – The actual room price paid after discounts, used as the main pricing metric.</a:t>
            </a:r>
          </a:p>
          <a:p>
            <a:pPr marL="342900" indent="-342900" algn="just">
              <a:buFont typeface="Wingdings" panose="05000000000000000000" pitchFamily="2" charset="2"/>
              <a:buChar char="Ø"/>
            </a:pPr>
            <a:r>
              <a:rPr lang="en-US" sz="2000" b="1" dirty="0">
                <a:latin typeface="Calibri" panose="020F0502020204030204" pitchFamily="34" charset="0"/>
                <a:ea typeface="Calibri" panose="020F0502020204030204" pitchFamily="34" charset="0"/>
                <a:cs typeface="Calibri" panose="020F0502020204030204" pitchFamily="34" charset="0"/>
              </a:rPr>
              <a:t>City</a:t>
            </a:r>
            <a:r>
              <a:rPr lang="en-US" sz="2000" dirty="0">
                <a:latin typeface="Calibri" panose="020F0502020204030204" pitchFamily="34" charset="0"/>
                <a:ea typeface="Calibri" panose="020F0502020204030204" pitchFamily="34" charset="0"/>
                <a:cs typeface="Calibri" panose="020F0502020204030204" pitchFamily="34" charset="0"/>
              </a:rPr>
              <a:t> – Represents the hotel location and is used to compare city-wise pricing and availability.</a:t>
            </a:r>
          </a:p>
          <a:p>
            <a:pPr marL="342900" indent="-342900" algn="just">
              <a:buFont typeface="Wingdings" panose="05000000000000000000" pitchFamily="2" charset="2"/>
              <a:buChar char="Ø"/>
            </a:pPr>
            <a:r>
              <a:rPr lang="en-US" sz="2000" b="1" dirty="0" err="1">
                <a:latin typeface="Calibri" panose="020F0502020204030204" pitchFamily="34" charset="0"/>
                <a:ea typeface="Calibri" panose="020F0502020204030204" pitchFamily="34" charset="0"/>
                <a:cs typeface="Calibri" panose="020F0502020204030204" pitchFamily="34" charset="0"/>
              </a:rPr>
              <a:t>Hotel_Type</a:t>
            </a:r>
            <a:r>
              <a:rPr lang="en-US" sz="2000" dirty="0">
                <a:latin typeface="Calibri" panose="020F0502020204030204" pitchFamily="34" charset="0"/>
                <a:ea typeface="Calibri" panose="020F0502020204030204" pitchFamily="34" charset="0"/>
                <a:cs typeface="Calibri" panose="020F0502020204030204" pitchFamily="34" charset="0"/>
              </a:rPr>
              <a:t> – Categorizes hotels and helps analyze pricing and popularity across hotel formats.</a:t>
            </a:r>
          </a:p>
          <a:p>
            <a:pPr marL="342900" indent="-342900" algn="just">
              <a:buFont typeface="Wingdings" panose="05000000000000000000" pitchFamily="2" charset="2"/>
              <a:buChar char="Ø"/>
            </a:pPr>
            <a:r>
              <a:rPr lang="en-US" sz="2000" b="1" dirty="0">
                <a:latin typeface="Calibri" panose="020F0502020204030204" pitchFamily="34" charset="0"/>
                <a:ea typeface="Calibri" panose="020F0502020204030204" pitchFamily="34" charset="0"/>
                <a:cs typeface="Calibri" panose="020F0502020204030204" pitchFamily="34" charset="0"/>
              </a:rPr>
              <a:t>Rating</a:t>
            </a:r>
            <a:r>
              <a:rPr lang="en-US" sz="2000" dirty="0">
                <a:latin typeface="Calibri" panose="020F0502020204030204" pitchFamily="34" charset="0"/>
                <a:ea typeface="Calibri" panose="020F0502020204030204" pitchFamily="34" charset="0"/>
                <a:cs typeface="Calibri" panose="020F0502020204030204" pitchFamily="34" charset="0"/>
              </a:rPr>
              <a:t> – Shows average customer satisfaction for each hotel.</a:t>
            </a:r>
          </a:p>
          <a:p>
            <a:pPr marL="342900" indent="-342900" algn="just">
              <a:buFont typeface="Wingdings" panose="05000000000000000000" pitchFamily="2" charset="2"/>
              <a:buChar char="Ø"/>
            </a:pPr>
            <a:r>
              <a:rPr lang="en-US" sz="2000" b="1" dirty="0">
                <a:latin typeface="Calibri" panose="020F0502020204030204" pitchFamily="34" charset="0"/>
                <a:ea typeface="Calibri" panose="020F0502020204030204" pitchFamily="34" charset="0"/>
                <a:cs typeface="Calibri" panose="020F0502020204030204" pitchFamily="34" charset="0"/>
              </a:rPr>
              <a:t>Number of Ratings</a:t>
            </a:r>
            <a:r>
              <a:rPr lang="en-US" sz="2000" dirty="0">
                <a:latin typeface="Calibri" panose="020F0502020204030204" pitchFamily="34" charset="0"/>
                <a:ea typeface="Calibri" panose="020F0502020204030204" pitchFamily="34" charset="0"/>
                <a:cs typeface="Calibri" panose="020F0502020204030204" pitchFamily="34" charset="0"/>
              </a:rPr>
              <a:t> – Indicates customer engagement and trust in the hotel.</a:t>
            </a:r>
          </a:p>
          <a:p>
            <a:pPr marL="342900" indent="-342900" algn="just">
              <a:buFont typeface="Wingdings" panose="05000000000000000000" pitchFamily="2" charset="2"/>
              <a:buChar char="Ø"/>
            </a:pPr>
            <a:r>
              <a:rPr lang="en-US" sz="2000" b="1" dirty="0" err="1">
                <a:latin typeface="Calibri" panose="020F0502020204030204" pitchFamily="34" charset="0"/>
                <a:ea typeface="Calibri" panose="020F0502020204030204" pitchFamily="34" charset="0"/>
                <a:cs typeface="Calibri" panose="020F0502020204030204" pitchFamily="34" charset="0"/>
              </a:rPr>
              <a:t>Amenity_Count</a:t>
            </a:r>
            <a:r>
              <a:rPr lang="en-US" sz="2000" dirty="0">
                <a:latin typeface="Calibri" panose="020F0502020204030204" pitchFamily="34" charset="0"/>
                <a:ea typeface="Calibri" panose="020F0502020204030204" pitchFamily="34" charset="0"/>
                <a:cs typeface="Calibri" panose="020F0502020204030204" pitchFamily="34" charset="0"/>
              </a:rPr>
              <a:t> – Measures the number of amenities offered, reflecting service value.</a:t>
            </a:r>
          </a:p>
          <a:p>
            <a:pPr marL="342900" indent="-342900" algn="just">
              <a:buFont typeface="Wingdings" panose="05000000000000000000" pitchFamily="2" charset="2"/>
              <a:buChar char="Ø"/>
            </a:pPr>
            <a:r>
              <a:rPr lang="en-US" sz="2000" b="1" dirty="0" err="1">
                <a:latin typeface="Calibri" panose="020F0502020204030204" pitchFamily="34" charset="0"/>
                <a:ea typeface="Calibri" panose="020F0502020204030204" pitchFamily="34" charset="0"/>
                <a:cs typeface="Calibri" panose="020F0502020204030204" pitchFamily="34" charset="0"/>
              </a:rPr>
              <a:t>Popularity_Score</a:t>
            </a:r>
            <a:r>
              <a:rPr lang="en-US" sz="2000" dirty="0">
                <a:latin typeface="Calibri" panose="020F0502020204030204" pitchFamily="34" charset="0"/>
                <a:ea typeface="Calibri" panose="020F0502020204030204" pitchFamily="34" charset="0"/>
                <a:cs typeface="Calibri" panose="020F0502020204030204" pitchFamily="34" charset="0"/>
              </a:rPr>
              <a:t> – A derived metric combining ratings and review volume to represent popularity.</a:t>
            </a:r>
          </a:p>
          <a:p>
            <a:pPr marL="342900" indent="-342900" algn="just">
              <a:buFont typeface="Wingdings" panose="05000000000000000000" pitchFamily="2" charset="2"/>
              <a:buChar char="Ø"/>
            </a:pPr>
            <a:r>
              <a:rPr lang="en-US" sz="2000" b="1" dirty="0" err="1">
                <a:latin typeface="Calibri" panose="020F0502020204030204" pitchFamily="34" charset="0"/>
                <a:ea typeface="Calibri" panose="020F0502020204030204" pitchFamily="34" charset="0"/>
                <a:cs typeface="Calibri" panose="020F0502020204030204" pitchFamily="34" charset="0"/>
              </a:rPr>
              <a:t>Original_Price</a:t>
            </a:r>
            <a:r>
              <a:rPr lang="en-US" sz="2000" dirty="0">
                <a:latin typeface="Calibri" panose="020F0502020204030204" pitchFamily="34" charset="0"/>
                <a:ea typeface="Calibri" panose="020F0502020204030204" pitchFamily="34" charset="0"/>
                <a:cs typeface="Calibri" panose="020F0502020204030204" pitchFamily="34" charset="0"/>
              </a:rPr>
              <a:t> – Used to understand base pricing before discounts are applied.</a:t>
            </a:r>
          </a:p>
          <a:p>
            <a:pPr marL="342900" indent="-342900" algn="just">
              <a:buFont typeface="Wingdings" panose="05000000000000000000" pitchFamily="2" charset="2"/>
              <a:buChar char="Ø"/>
            </a:pPr>
            <a:r>
              <a:rPr lang="en-US" sz="2000" b="1" dirty="0" err="1">
                <a:latin typeface="Calibri" panose="020F0502020204030204" pitchFamily="34" charset="0"/>
                <a:ea typeface="Calibri" panose="020F0502020204030204" pitchFamily="34" charset="0"/>
                <a:cs typeface="Calibri" panose="020F0502020204030204" pitchFamily="34" charset="0"/>
              </a:rPr>
              <a:t>Discount_Amount</a:t>
            </a:r>
            <a:r>
              <a:rPr lang="en-US" sz="2000" dirty="0">
                <a:latin typeface="Calibri" panose="020F0502020204030204" pitchFamily="34" charset="0"/>
                <a:ea typeface="Calibri" panose="020F0502020204030204" pitchFamily="34" charset="0"/>
                <a:cs typeface="Calibri" panose="020F0502020204030204" pitchFamily="34" charset="0"/>
              </a:rPr>
              <a:t> – Represents the monetary value of discounts offered to customers.</a:t>
            </a:r>
          </a:p>
          <a:p>
            <a:pPr marL="342900" indent="-342900" algn="just">
              <a:buFont typeface="Wingdings" panose="05000000000000000000" pitchFamily="2" charset="2"/>
              <a:buChar char="Ø"/>
            </a:pPr>
            <a:r>
              <a:rPr lang="en-US" sz="2000" b="1" dirty="0" err="1">
                <a:latin typeface="Calibri" panose="020F0502020204030204" pitchFamily="34" charset="0"/>
                <a:ea typeface="Calibri" panose="020F0502020204030204" pitchFamily="34" charset="0"/>
                <a:cs typeface="Calibri" panose="020F0502020204030204" pitchFamily="34" charset="0"/>
              </a:rPr>
              <a:t>Price_Category</a:t>
            </a:r>
            <a:r>
              <a:rPr lang="en-US" sz="2000" dirty="0">
                <a:latin typeface="Calibri" panose="020F0502020204030204" pitchFamily="34" charset="0"/>
                <a:ea typeface="Calibri" panose="020F0502020204030204" pitchFamily="34" charset="0"/>
                <a:cs typeface="Calibri" panose="020F0502020204030204" pitchFamily="34" charset="0"/>
              </a:rPr>
              <a:t> – Groups hotels into budget, mid, or premium segments for simplified analysis.</a:t>
            </a:r>
          </a:p>
        </p:txBody>
      </p:sp>
      <p:sp>
        <p:nvSpPr>
          <p:cNvPr id="5" name="TextBox 4">
            <a:extLst>
              <a:ext uri="{FF2B5EF4-FFF2-40B4-BE49-F238E27FC236}">
                <a16:creationId xmlns:a16="http://schemas.microsoft.com/office/drawing/2014/main" id="{C29B62DE-BAF8-6E0B-4F1D-F708461EFE21}"/>
              </a:ext>
            </a:extLst>
          </p:cNvPr>
          <p:cNvSpPr txBox="1"/>
          <p:nvPr/>
        </p:nvSpPr>
        <p:spPr>
          <a:xfrm>
            <a:off x="548639" y="497991"/>
            <a:ext cx="6096982" cy="523220"/>
          </a:xfrm>
          <a:prstGeom prst="rect">
            <a:avLst/>
          </a:prstGeom>
          <a:noFill/>
        </p:spPr>
        <p:txBody>
          <a:bodyPr wrap="square">
            <a:spAutoFit/>
          </a:bodyPr>
          <a:lstStyle/>
          <a:p>
            <a:r>
              <a:rPr lang="en-IN" sz="2800" b="1" dirty="0">
                <a:latin typeface="Times New Roman" panose="02020603050405020304" pitchFamily="18" charset="0"/>
                <a:ea typeface="Calibri" panose="020F0502020204030204" pitchFamily="34" charset="0"/>
                <a:cs typeface="Times New Roman" panose="02020603050405020304" pitchFamily="18" charset="0"/>
              </a:rPr>
              <a:t>Dataset Dictionary</a:t>
            </a:r>
          </a:p>
        </p:txBody>
      </p:sp>
      <p:pic>
        <p:nvPicPr>
          <p:cNvPr id="9" name="Picture 8">
            <a:extLst>
              <a:ext uri="{FF2B5EF4-FFF2-40B4-BE49-F238E27FC236}">
                <a16:creationId xmlns:a16="http://schemas.microsoft.com/office/drawing/2014/main" id="{81B5023E-73FB-A09B-E28D-E34A05D05E1E}"/>
              </a:ext>
            </a:extLst>
          </p:cNvPr>
          <p:cNvPicPr>
            <a:picLocks noChangeAspect="1"/>
          </p:cNvPicPr>
          <p:nvPr/>
        </p:nvPicPr>
        <p:blipFill>
          <a:blip r:embed="rId3"/>
          <a:stretch>
            <a:fillRect/>
          </a:stretch>
        </p:blipFill>
        <p:spPr>
          <a:xfrm>
            <a:off x="9120402" y="1021211"/>
            <a:ext cx="2863059" cy="5049848"/>
          </a:xfrm>
          <a:prstGeom prst="rect">
            <a:avLst/>
          </a:prstGeom>
        </p:spPr>
      </p:pic>
    </p:spTree>
    <p:extLst>
      <p:ext uri="{BB962C8B-B14F-4D97-AF65-F5344CB8AC3E}">
        <p14:creationId xmlns:p14="http://schemas.microsoft.com/office/powerpoint/2010/main" val="3348736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B927B-2C25-40CC-4590-F7F1CDE38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1E8BBF-25D0-6779-0CC9-D47815541063}"/>
              </a:ext>
            </a:extLst>
          </p:cNvPr>
          <p:cNvSpPr>
            <a:spLocks noGrp="1"/>
          </p:cNvSpPr>
          <p:nvPr>
            <p:ph type="title"/>
          </p:nvPr>
        </p:nvSpPr>
        <p:spPr>
          <a:xfrm>
            <a:off x="-75159" y="298011"/>
            <a:ext cx="3657623" cy="684068"/>
          </a:xfrm>
        </p:spPr>
        <p:txBody>
          <a:bodyPr>
            <a:noAutofit/>
          </a:bodyPr>
          <a:lstStyle/>
          <a:p>
            <a:r>
              <a:rPr lang="en-IN" sz="4000" b="1" dirty="0">
                <a:solidFill>
                  <a:schemeClr val="tx1"/>
                </a:solidFill>
                <a:latin typeface="Times New Roman" panose="02020603050405020304" pitchFamily="18" charset="0"/>
                <a:cs typeface="Times New Roman" panose="02020603050405020304" pitchFamily="18" charset="0"/>
              </a:rPr>
              <a:t> Dataset:</a:t>
            </a:r>
          </a:p>
        </p:txBody>
      </p:sp>
      <p:pic>
        <p:nvPicPr>
          <p:cNvPr id="5" name="Picture 4">
            <a:extLst>
              <a:ext uri="{FF2B5EF4-FFF2-40B4-BE49-F238E27FC236}">
                <a16:creationId xmlns:a16="http://schemas.microsoft.com/office/drawing/2014/main" id="{64F84042-E81E-7CA0-DEF9-8BAC28846602}"/>
              </a:ext>
            </a:extLst>
          </p:cNvPr>
          <p:cNvPicPr>
            <a:picLocks noChangeAspect="1"/>
          </p:cNvPicPr>
          <p:nvPr/>
        </p:nvPicPr>
        <p:blipFill>
          <a:blip r:embed="rId2"/>
          <a:stretch>
            <a:fillRect/>
          </a:stretch>
        </p:blipFill>
        <p:spPr>
          <a:xfrm>
            <a:off x="268515" y="1228720"/>
            <a:ext cx="11393714" cy="4424594"/>
          </a:xfrm>
          <a:prstGeom prst="rect">
            <a:avLst/>
          </a:prstGeom>
        </p:spPr>
      </p:pic>
    </p:spTree>
    <p:extLst>
      <p:ext uri="{BB962C8B-B14F-4D97-AF65-F5344CB8AC3E}">
        <p14:creationId xmlns:p14="http://schemas.microsoft.com/office/powerpoint/2010/main" val="3473684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52877-0C48-5832-A3A6-F82C9EE642F6}"/>
              </a:ext>
            </a:extLst>
          </p:cNvPr>
          <p:cNvSpPr>
            <a:spLocks noGrp="1"/>
          </p:cNvSpPr>
          <p:nvPr>
            <p:ph type="title"/>
          </p:nvPr>
        </p:nvSpPr>
        <p:spPr>
          <a:xfrm>
            <a:off x="348553" y="435917"/>
            <a:ext cx="3008179" cy="823861"/>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Tools Used:</a:t>
            </a:r>
          </a:p>
        </p:txBody>
      </p:sp>
      <p:pic>
        <p:nvPicPr>
          <p:cNvPr id="3076" name="Picture 4">
            <a:extLst>
              <a:ext uri="{FF2B5EF4-FFF2-40B4-BE49-F238E27FC236}">
                <a16:creationId xmlns:a16="http://schemas.microsoft.com/office/drawing/2014/main" id="{7091940F-394A-C4D9-49A9-28A0D53A39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4326" y="1517596"/>
            <a:ext cx="3930769" cy="136207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D143134B-5DDE-9DA9-C904-C2C12CE774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7014" y="4568005"/>
            <a:ext cx="3190875" cy="1428750"/>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RegEx - Transformation Services | openHAB">
            <a:extLst>
              <a:ext uri="{FF2B5EF4-FFF2-40B4-BE49-F238E27FC236}">
                <a16:creationId xmlns:a16="http://schemas.microsoft.com/office/drawing/2014/main" id="{EC2EC784-CEE9-A58C-1939-2AA806F636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9775" y="3063874"/>
            <a:ext cx="4019550" cy="1133475"/>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Beautiful Soup 4 | Funthon">
            <a:extLst>
              <a:ext uri="{FF2B5EF4-FFF2-40B4-BE49-F238E27FC236}">
                <a16:creationId xmlns:a16="http://schemas.microsoft.com/office/drawing/2014/main" id="{81ABF712-4AED-CDA3-4D98-A52C78496C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55777" y="1381892"/>
            <a:ext cx="3267075" cy="1400175"/>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Citing and logo — seaborn 0.13.2 ...">
            <a:extLst>
              <a:ext uri="{FF2B5EF4-FFF2-40B4-BE49-F238E27FC236}">
                <a16:creationId xmlns:a16="http://schemas.microsoft.com/office/drawing/2014/main" id="{7EC87C6C-8C0E-53D2-B133-B39020CFBB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74595" y="4710880"/>
            <a:ext cx="4000500" cy="1143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Matplotlib Logo &amp; Brand Assets (SVG ...">
            <a:extLst>
              <a:ext uri="{FF2B5EF4-FFF2-40B4-BE49-F238E27FC236}">
                <a16:creationId xmlns:a16="http://schemas.microsoft.com/office/drawing/2014/main" id="{65CBCFCE-FD98-D992-1C08-65F5EFEB614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91926" y="3109858"/>
            <a:ext cx="3705225" cy="1228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322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33525-D926-CE9E-E017-A7BE8655ED3C}"/>
              </a:ext>
            </a:extLst>
          </p:cNvPr>
          <p:cNvSpPr>
            <a:spLocks noGrp="1"/>
          </p:cNvSpPr>
          <p:nvPr>
            <p:ph type="title"/>
          </p:nvPr>
        </p:nvSpPr>
        <p:spPr>
          <a:xfrm>
            <a:off x="584036" y="249722"/>
            <a:ext cx="5008061" cy="723672"/>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Cleaning Steps:</a:t>
            </a:r>
          </a:p>
        </p:txBody>
      </p:sp>
      <p:sp>
        <p:nvSpPr>
          <p:cNvPr id="3" name="Rectangle 1">
            <a:extLst>
              <a:ext uri="{FF2B5EF4-FFF2-40B4-BE49-F238E27FC236}">
                <a16:creationId xmlns:a16="http://schemas.microsoft.com/office/drawing/2014/main" id="{5541563A-0FA1-0F4E-51F0-2E40E673E782}"/>
              </a:ext>
            </a:extLst>
          </p:cNvPr>
          <p:cNvSpPr>
            <a:spLocks noChangeArrowheads="1"/>
          </p:cNvSpPr>
          <p:nvPr/>
        </p:nvSpPr>
        <p:spPr bwMode="auto">
          <a:xfrm>
            <a:off x="584036" y="1126777"/>
            <a:ext cx="963721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Cleaned price-related columns by removing currency symbols, commas, and extra text to convert them into numerical values.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Standardized hotel names by cleaning raw text and creating a consistent Clean_Hotel_Name column.</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Converted rating and review count fields from string format to numeric values for reliable analysis.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Handled missing and inconsistent values across pricing, ratings, amenities, and hotel attributes.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Removed duplicate records to ensure data accuracy and avoid repeated hotel entries.</a:t>
            </a:r>
          </a:p>
        </p:txBody>
      </p:sp>
    </p:spTree>
    <p:extLst>
      <p:ext uri="{BB962C8B-B14F-4D97-AF65-F5344CB8AC3E}">
        <p14:creationId xmlns:p14="http://schemas.microsoft.com/office/powerpoint/2010/main" val="3244275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B0041-6786-98A5-A78C-5FFC636E6C5B}"/>
              </a:ext>
            </a:extLst>
          </p:cNvPr>
          <p:cNvSpPr>
            <a:spLocks noGrp="1"/>
          </p:cNvSpPr>
          <p:nvPr>
            <p:ph type="title"/>
          </p:nvPr>
        </p:nvSpPr>
        <p:spPr>
          <a:xfrm>
            <a:off x="0" y="354768"/>
            <a:ext cx="6389001" cy="1261655"/>
          </a:xfrm>
        </p:spPr>
        <p:txBody>
          <a:bodyPr>
            <a:noAutofit/>
          </a:bodyPr>
          <a:lstStyle/>
          <a:p>
            <a:pPr>
              <a:lnSpc>
                <a:spcPct val="150000"/>
              </a:lnSpc>
            </a:pPr>
            <a:r>
              <a:rPr lang="en-IN" sz="2800" b="1" dirty="0">
                <a:solidFill>
                  <a:schemeClr val="tx1"/>
                </a:solidFill>
                <a:latin typeface="Times New Roman" panose="02020603050405020304" pitchFamily="18" charset="0"/>
                <a:cs typeface="Times New Roman" panose="02020603050405020304" pitchFamily="18" charset="0"/>
              </a:rPr>
              <a:t> Univariate Analysis:</a:t>
            </a:r>
            <a:br>
              <a:rPr lang="en-IN" sz="2800" b="1" dirty="0">
                <a:solidFill>
                  <a:schemeClr val="tx1"/>
                </a:solidFill>
                <a:latin typeface="Times New Roman" panose="02020603050405020304" pitchFamily="18" charset="0"/>
                <a:cs typeface="Times New Roman" panose="02020603050405020304" pitchFamily="18" charset="0"/>
              </a:rPr>
            </a:br>
            <a:r>
              <a:rPr lang="en-IN" sz="2800" b="1" dirty="0">
                <a:solidFill>
                  <a:schemeClr val="tx1"/>
                </a:solidFill>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Distribution of OYO Hotel Final  Prices</a:t>
            </a:r>
            <a:endParaRPr lang="en-IN" sz="2800" b="1"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FDF7C8D-2E05-5EBF-F944-7969E94646ED}"/>
              </a:ext>
            </a:extLst>
          </p:cNvPr>
          <p:cNvPicPr>
            <a:picLocks noChangeAspect="1"/>
          </p:cNvPicPr>
          <p:nvPr/>
        </p:nvPicPr>
        <p:blipFill>
          <a:blip r:embed="rId2"/>
          <a:stretch>
            <a:fillRect/>
          </a:stretch>
        </p:blipFill>
        <p:spPr>
          <a:xfrm>
            <a:off x="6624974" y="1293293"/>
            <a:ext cx="5132063" cy="4476276"/>
          </a:xfrm>
          <a:prstGeom prst="rect">
            <a:avLst/>
          </a:prstGeom>
        </p:spPr>
      </p:pic>
      <p:sp>
        <p:nvSpPr>
          <p:cNvPr id="6" name="TextBox 5">
            <a:extLst>
              <a:ext uri="{FF2B5EF4-FFF2-40B4-BE49-F238E27FC236}">
                <a16:creationId xmlns:a16="http://schemas.microsoft.com/office/drawing/2014/main" id="{1BC9BAAA-30CB-0D5C-F4B3-041D4EDE7CB7}"/>
              </a:ext>
            </a:extLst>
          </p:cNvPr>
          <p:cNvSpPr txBox="1"/>
          <p:nvPr/>
        </p:nvSpPr>
        <p:spPr>
          <a:xfrm>
            <a:off x="99791" y="1882569"/>
            <a:ext cx="5819774" cy="2246769"/>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The final price of OYO hotels ranges from ₹417 to ₹4,883, showing a wide variation in pricing.</a:t>
            </a:r>
          </a:p>
          <a:p>
            <a:pPr marL="342900" indent="-34290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Most hotels are priced between ₹500 and ₹1,500, indicating a strong focus on budget and mid-range stays.</a:t>
            </a:r>
          </a:p>
          <a:p>
            <a:pPr marL="342900" indent="-34290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The price distribution is right-skewed, with only a few premium hotels at higher price levels.</a:t>
            </a:r>
          </a:p>
        </p:txBody>
      </p:sp>
    </p:spTree>
    <p:extLst>
      <p:ext uri="{BB962C8B-B14F-4D97-AF65-F5344CB8AC3E}">
        <p14:creationId xmlns:p14="http://schemas.microsoft.com/office/powerpoint/2010/main" val="32684742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9B076-F25A-AF23-B2ED-E39CABA87A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156DB9-CFE0-861F-FD41-2793A641B21A}"/>
              </a:ext>
            </a:extLst>
          </p:cNvPr>
          <p:cNvSpPr>
            <a:spLocks noGrp="1"/>
          </p:cNvSpPr>
          <p:nvPr>
            <p:ph type="title"/>
          </p:nvPr>
        </p:nvSpPr>
        <p:spPr>
          <a:xfrm>
            <a:off x="0" y="230075"/>
            <a:ext cx="7793048" cy="928062"/>
          </a:xfrm>
        </p:spPr>
        <p:txBody>
          <a:bodyPr>
            <a:noAutofit/>
          </a:bodyPr>
          <a:lstStyle/>
          <a:p>
            <a:r>
              <a:rPr lang="en-US" sz="2800" b="1" dirty="0">
                <a:latin typeface="Times New Roman" panose="02020603050405020304" pitchFamily="18" charset="0"/>
                <a:cs typeface="Times New Roman" panose="02020603050405020304" pitchFamily="18" charset="0"/>
              </a:rPr>
              <a:t>      City-wise Distribution of OYO Hotels</a:t>
            </a:r>
            <a:br>
              <a:rPr lang="en-US" sz="2800" dirty="0"/>
            </a:b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429B3D8-24F0-BFDD-F8CA-E6AACD40E032}"/>
              </a:ext>
            </a:extLst>
          </p:cNvPr>
          <p:cNvSpPr txBox="1"/>
          <p:nvPr/>
        </p:nvSpPr>
        <p:spPr>
          <a:xfrm>
            <a:off x="165182" y="4178636"/>
            <a:ext cx="11592231" cy="2246769"/>
          </a:xfrm>
          <a:prstGeom prst="rect">
            <a:avLst/>
          </a:prstGeom>
          <a:noFill/>
        </p:spPr>
        <p:txBody>
          <a:bodyPr wrap="square">
            <a:spAutoFit/>
          </a:bodyPr>
          <a:lstStyle/>
          <a:p>
            <a:pPr marL="342900" indent="-34290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Hyderabad has the highest number of OYO hotels, mainly because many people live and work there due to IT and other industries.</a:t>
            </a:r>
          </a:p>
          <a:p>
            <a:pPr marL="342900" indent="-34290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Delhi and Bangalore also have a high number of hotels, as they are major cities with business and travel demand.</a:t>
            </a:r>
          </a:p>
          <a:p>
            <a:pPr marL="342900" indent="-34290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Kolkata has a moderate number of OYO hotels, while Mumbai, Chennai, and Pune have fewer hotels compared to the top cities. Overall, OYO hotels are more concentrated in big cities where population and travel demand are high.</a:t>
            </a:r>
          </a:p>
        </p:txBody>
      </p:sp>
      <p:pic>
        <p:nvPicPr>
          <p:cNvPr id="9" name="Picture 8">
            <a:extLst>
              <a:ext uri="{FF2B5EF4-FFF2-40B4-BE49-F238E27FC236}">
                <a16:creationId xmlns:a16="http://schemas.microsoft.com/office/drawing/2014/main" id="{E26201FC-55A0-0B33-4DA3-4AC3CFCABD83}"/>
              </a:ext>
            </a:extLst>
          </p:cNvPr>
          <p:cNvPicPr>
            <a:picLocks noChangeAspect="1"/>
          </p:cNvPicPr>
          <p:nvPr/>
        </p:nvPicPr>
        <p:blipFill>
          <a:blip r:embed="rId3"/>
          <a:stretch>
            <a:fillRect/>
          </a:stretch>
        </p:blipFill>
        <p:spPr>
          <a:xfrm>
            <a:off x="407271" y="796413"/>
            <a:ext cx="10140775" cy="3382223"/>
          </a:xfrm>
          <a:prstGeom prst="rect">
            <a:avLst/>
          </a:prstGeom>
        </p:spPr>
      </p:pic>
    </p:spTree>
    <p:extLst>
      <p:ext uri="{BB962C8B-B14F-4D97-AF65-F5344CB8AC3E}">
        <p14:creationId xmlns:p14="http://schemas.microsoft.com/office/powerpoint/2010/main" val="25308323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9CB1F-F52B-AB9B-23B5-48A7B7E12F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A07876-07C0-93DC-2DD7-21561A9F9908}"/>
              </a:ext>
            </a:extLst>
          </p:cNvPr>
          <p:cNvSpPr>
            <a:spLocks noGrp="1"/>
          </p:cNvSpPr>
          <p:nvPr>
            <p:ph type="title"/>
          </p:nvPr>
        </p:nvSpPr>
        <p:spPr>
          <a:xfrm>
            <a:off x="-1" y="354768"/>
            <a:ext cx="5468703" cy="807405"/>
          </a:xfrm>
        </p:spPr>
        <p:txBody>
          <a:bodyPr>
            <a:noAutofit/>
          </a:bodyPr>
          <a:lstStyle/>
          <a:p>
            <a:r>
              <a:rPr lang="en-US" sz="2800" b="1" dirty="0"/>
              <a:t>  Distribution of OYO Hotel Ratings</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207890F0-5585-BA3C-7BA1-63E4312F4CE6}"/>
              </a:ext>
            </a:extLst>
          </p:cNvPr>
          <p:cNvSpPr txBox="1"/>
          <p:nvPr/>
        </p:nvSpPr>
        <p:spPr>
          <a:xfrm>
            <a:off x="193755" y="4620219"/>
            <a:ext cx="11917619" cy="1631216"/>
          </a:xfrm>
          <a:prstGeom prst="rect">
            <a:avLst/>
          </a:prstGeom>
          <a:noFill/>
        </p:spPr>
        <p:txBody>
          <a:bodyPr wrap="square">
            <a:spAutoFit/>
          </a:bodyPr>
          <a:lstStyle/>
          <a:p>
            <a:pPr marL="342900" indent="-34290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50% of the ratings lie between 4.0 and 4.65, showing that most customers are highly satisfied with their stay.</a:t>
            </a:r>
          </a:p>
          <a:p>
            <a:pPr marL="342900" indent="-34290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Ratings are concentrated around 4.6, indicating consistently positive customer experiences across hotels.</a:t>
            </a:r>
          </a:p>
          <a:p>
            <a:pPr marL="342900" indent="-34290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Very few low ratings (below 3) suggest limited customer dissatisfaction and fewer service issues.</a:t>
            </a:r>
          </a:p>
          <a:p>
            <a:pPr marL="342900" indent="-34290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High satisfaction is likely driven by affordable pricing, good amenities, and convenient locations, making OYO a preferred choice for many travelers.</a:t>
            </a:r>
          </a:p>
        </p:txBody>
      </p:sp>
      <p:pic>
        <p:nvPicPr>
          <p:cNvPr id="5" name="Picture 4">
            <a:extLst>
              <a:ext uri="{FF2B5EF4-FFF2-40B4-BE49-F238E27FC236}">
                <a16:creationId xmlns:a16="http://schemas.microsoft.com/office/drawing/2014/main" id="{377A44AB-4402-DE6F-9E85-5C313EC45078}"/>
              </a:ext>
            </a:extLst>
          </p:cNvPr>
          <p:cNvPicPr>
            <a:picLocks noChangeAspect="1"/>
          </p:cNvPicPr>
          <p:nvPr/>
        </p:nvPicPr>
        <p:blipFill>
          <a:blip r:embed="rId2"/>
          <a:stretch>
            <a:fillRect/>
          </a:stretch>
        </p:blipFill>
        <p:spPr>
          <a:xfrm>
            <a:off x="418855" y="1162173"/>
            <a:ext cx="10660133" cy="3406933"/>
          </a:xfrm>
          <a:prstGeom prst="rect">
            <a:avLst/>
          </a:prstGeom>
        </p:spPr>
      </p:pic>
    </p:spTree>
    <p:extLst>
      <p:ext uri="{BB962C8B-B14F-4D97-AF65-F5344CB8AC3E}">
        <p14:creationId xmlns:p14="http://schemas.microsoft.com/office/powerpoint/2010/main" val="7127140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61A13-0770-5F19-9105-5BE0808AD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0671AE-6593-5B1A-5289-CECB9FBCD174}"/>
              </a:ext>
            </a:extLst>
          </p:cNvPr>
          <p:cNvSpPr>
            <a:spLocks noGrp="1"/>
          </p:cNvSpPr>
          <p:nvPr>
            <p:ph type="title"/>
          </p:nvPr>
        </p:nvSpPr>
        <p:spPr>
          <a:xfrm>
            <a:off x="0" y="212377"/>
            <a:ext cx="6860950" cy="913593"/>
          </a:xfrm>
        </p:spPr>
        <p:txBody>
          <a:bodyPr>
            <a:noAutofit/>
          </a:bodyPr>
          <a:lstStyle/>
          <a:p>
            <a:r>
              <a:rPr lang="en-US" sz="2800" b="1" dirty="0"/>
              <a:t>  Distribution of OYO Hotel Rating Categories</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3675CAD-1E1B-F447-802D-9FF27DCEEEAF}"/>
              </a:ext>
            </a:extLst>
          </p:cNvPr>
          <p:cNvSpPr txBox="1"/>
          <p:nvPr/>
        </p:nvSpPr>
        <p:spPr>
          <a:xfrm>
            <a:off x="333629" y="1326764"/>
            <a:ext cx="5453638" cy="3785652"/>
          </a:xfrm>
          <a:prstGeom prst="rect">
            <a:avLst/>
          </a:prstGeom>
          <a:noFill/>
        </p:spPr>
        <p:txBody>
          <a:bodyPr wrap="square">
            <a:spAutoFit/>
          </a:bodyPr>
          <a:lstStyle/>
          <a:p>
            <a:pPr marL="342900" indent="-34290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Most OYO hotels fall under “Excellent” and “Very Good” categories, indicating strong overall customer satisfaction.</a:t>
            </a:r>
          </a:p>
          <a:p>
            <a:pPr marL="342900" indent="-34290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“Good” rated hotels form a moderate share, suggesting acceptable service quality with scope for improvement.</a:t>
            </a:r>
          </a:p>
          <a:p>
            <a:pPr marL="342900" indent="-34290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Very few hotels are rated as “Fair” or “NEW”, showing limited negative feedback and fewer newly listed properties.</a:t>
            </a:r>
          </a:p>
          <a:p>
            <a:pPr marL="342900" indent="-34290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Overall, the rating distribution is positively skewed, highlighting consistent service quality across most OYO hotels.</a:t>
            </a:r>
          </a:p>
        </p:txBody>
      </p:sp>
      <p:pic>
        <p:nvPicPr>
          <p:cNvPr id="6" name="Picture 5">
            <a:extLst>
              <a:ext uri="{FF2B5EF4-FFF2-40B4-BE49-F238E27FC236}">
                <a16:creationId xmlns:a16="http://schemas.microsoft.com/office/drawing/2014/main" id="{B0D927AA-A507-93C4-EDD9-C8B888384BCF}"/>
              </a:ext>
            </a:extLst>
          </p:cNvPr>
          <p:cNvPicPr>
            <a:picLocks noChangeAspect="1"/>
          </p:cNvPicPr>
          <p:nvPr/>
        </p:nvPicPr>
        <p:blipFill>
          <a:blip r:embed="rId2"/>
          <a:stretch>
            <a:fillRect/>
          </a:stretch>
        </p:blipFill>
        <p:spPr>
          <a:xfrm>
            <a:off x="6796056" y="1008790"/>
            <a:ext cx="4689987" cy="4304420"/>
          </a:xfrm>
          <a:prstGeom prst="rect">
            <a:avLst/>
          </a:prstGeom>
        </p:spPr>
      </p:pic>
    </p:spTree>
    <p:extLst>
      <p:ext uri="{BB962C8B-B14F-4D97-AF65-F5344CB8AC3E}">
        <p14:creationId xmlns:p14="http://schemas.microsoft.com/office/powerpoint/2010/main" val="281434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66B82-888C-47A4-9A93-E3BDA0BC92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24AAAA-6A70-A375-E36A-57C13DEB250D}"/>
              </a:ext>
            </a:extLst>
          </p:cNvPr>
          <p:cNvSpPr>
            <a:spLocks noGrp="1"/>
          </p:cNvSpPr>
          <p:nvPr>
            <p:ph type="title"/>
          </p:nvPr>
        </p:nvSpPr>
        <p:spPr>
          <a:xfrm>
            <a:off x="0" y="354768"/>
            <a:ext cx="8382983" cy="614589"/>
          </a:xfrm>
        </p:spPr>
        <p:txBody>
          <a:bodyPr>
            <a:noAutofit/>
          </a:bodyPr>
          <a:lstStyle/>
          <a:p>
            <a:r>
              <a:rPr lang="en-US" sz="2800" b="1" dirty="0">
                <a:latin typeface="Times New Roman" panose="02020603050405020304" pitchFamily="18" charset="0"/>
                <a:cs typeface="Times New Roman" panose="02020603050405020304" pitchFamily="18" charset="0"/>
              </a:rPr>
              <a:t>  Distribution of OYO Hotels by Hotel Type</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B5F5D73-9438-374C-2CD9-92C838053E30}"/>
              </a:ext>
            </a:extLst>
          </p:cNvPr>
          <p:cNvSpPr txBox="1"/>
          <p:nvPr/>
        </p:nvSpPr>
        <p:spPr>
          <a:xfrm>
            <a:off x="340195" y="1208474"/>
            <a:ext cx="5932779" cy="3785652"/>
          </a:xfrm>
          <a:prstGeom prst="rect">
            <a:avLst/>
          </a:prstGeom>
          <a:noFill/>
        </p:spPr>
        <p:txBody>
          <a:bodyPr wrap="square">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“Hotel O” is the most dominant category, showing that OYO primarily focuses on standard budget hotel offerings.</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“Other” and “Super Townhouse” categories also have a strong presence, indicating diversification into premium and alternative stays.</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Townhouse and Collection O hotels form a moderate share, catering to customers looking for better amenities and comfort.</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Capital O, Palette, and OYO-branded hotels are limited, suggesting niche or premium segments with selective availability.</a:t>
            </a:r>
          </a:p>
        </p:txBody>
      </p:sp>
      <p:pic>
        <p:nvPicPr>
          <p:cNvPr id="5" name="Picture 4">
            <a:extLst>
              <a:ext uri="{FF2B5EF4-FFF2-40B4-BE49-F238E27FC236}">
                <a16:creationId xmlns:a16="http://schemas.microsoft.com/office/drawing/2014/main" id="{54C294CB-A8C3-2ECC-559E-B5931064FBF6}"/>
              </a:ext>
            </a:extLst>
          </p:cNvPr>
          <p:cNvPicPr>
            <a:picLocks noChangeAspect="1"/>
          </p:cNvPicPr>
          <p:nvPr/>
        </p:nvPicPr>
        <p:blipFill>
          <a:blip r:embed="rId2"/>
          <a:stretch>
            <a:fillRect/>
          </a:stretch>
        </p:blipFill>
        <p:spPr>
          <a:xfrm>
            <a:off x="6272975" y="1072645"/>
            <a:ext cx="5578829" cy="4962396"/>
          </a:xfrm>
          <a:prstGeom prst="rect">
            <a:avLst/>
          </a:prstGeom>
        </p:spPr>
      </p:pic>
    </p:spTree>
    <p:extLst>
      <p:ext uri="{BB962C8B-B14F-4D97-AF65-F5344CB8AC3E}">
        <p14:creationId xmlns:p14="http://schemas.microsoft.com/office/powerpoint/2010/main" val="2723714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98682-D684-5CBE-45F7-312D5903DC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CBA065-3F45-1970-A334-E1F2237E112B}"/>
              </a:ext>
            </a:extLst>
          </p:cNvPr>
          <p:cNvSpPr>
            <a:spLocks noGrp="1"/>
          </p:cNvSpPr>
          <p:nvPr>
            <p:ph type="title"/>
          </p:nvPr>
        </p:nvSpPr>
        <p:spPr>
          <a:xfrm>
            <a:off x="-1" y="354768"/>
            <a:ext cx="7232609" cy="614589"/>
          </a:xfrm>
        </p:spPr>
        <p:txBody>
          <a:bodyPr>
            <a:noAutofit/>
          </a:bodyPr>
          <a:lstStyle/>
          <a:p>
            <a:r>
              <a:rPr lang="en-US" sz="2800" b="1" dirty="0">
                <a:latin typeface="Times New Roman" panose="02020603050405020304" pitchFamily="18" charset="0"/>
                <a:cs typeface="Times New Roman" panose="02020603050405020304" pitchFamily="18" charset="0"/>
              </a:rPr>
              <a:t>  Price Category Distribution of OYO Hotels</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720DFE87-3B98-24A9-3C1B-2A43B4D9DD06}"/>
              </a:ext>
            </a:extLst>
          </p:cNvPr>
          <p:cNvSpPr txBox="1"/>
          <p:nvPr/>
        </p:nvSpPr>
        <p:spPr>
          <a:xfrm>
            <a:off x="324946" y="1248962"/>
            <a:ext cx="5539012" cy="2554545"/>
          </a:xfrm>
          <a:prstGeom prst="rect">
            <a:avLst/>
          </a:prstGeom>
          <a:noFill/>
        </p:spPr>
        <p:txBody>
          <a:bodyPr wrap="square">
            <a:spAutoFit/>
          </a:bodyPr>
          <a:lstStyle/>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Most OYO hotels are budget hotels, so they are affordable for common travelers.</a:t>
            </a:r>
          </a:p>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Many hotels are in the mid-price range, giving customers better comfort at reasonable prices.</a:t>
            </a:r>
          </a:p>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Very few hotels are premium or luxury, showing OYO is not focused on costly stays. Overall, OYO mainly targets people looking for affordable and value-for-money hotels.</a:t>
            </a:r>
          </a:p>
        </p:txBody>
      </p:sp>
      <p:pic>
        <p:nvPicPr>
          <p:cNvPr id="4" name="Picture 3">
            <a:extLst>
              <a:ext uri="{FF2B5EF4-FFF2-40B4-BE49-F238E27FC236}">
                <a16:creationId xmlns:a16="http://schemas.microsoft.com/office/drawing/2014/main" id="{74B86246-5594-694E-9C2A-E23763DA70C3}"/>
              </a:ext>
            </a:extLst>
          </p:cNvPr>
          <p:cNvPicPr>
            <a:picLocks noChangeAspect="1"/>
          </p:cNvPicPr>
          <p:nvPr/>
        </p:nvPicPr>
        <p:blipFill>
          <a:blip r:embed="rId2"/>
          <a:stretch>
            <a:fillRect/>
          </a:stretch>
        </p:blipFill>
        <p:spPr>
          <a:xfrm>
            <a:off x="6512945" y="1248962"/>
            <a:ext cx="4861119" cy="4360075"/>
          </a:xfrm>
          <a:prstGeom prst="rect">
            <a:avLst/>
          </a:prstGeom>
        </p:spPr>
      </p:pic>
    </p:spTree>
    <p:extLst>
      <p:ext uri="{BB962C8B-B14F-4D97-AF65-F5344CB8AC3E}">
        <p14:creationId xmlns:p14="http://schemas.microsoft.com/office/powerpoint/2010/main" val="30581484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49E88-4526-D32F-FA99-F8D0DD3350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11ECB-3EDE-E23F-4E4E-253ECB3A56FB}"/>
              </a:ext>
            </a:extLst>
          </p:cNvPr>
          <p:cNvSpPr>
            <a:spLocks noGrp="1"/>
          </p:cNvSpPr>
          <p:nvPr>
            <p:ph type="title"/>
          </p:nvPr>
        </p:nvSpPr>
        <p:spPr>
          <a:xfrm>
            <a:off x="0" y="354768"/>
            <a:ext cx="8672052" cy="1049278"/>
          </a:xfrm>
        </p:spPr>
        <p:txBody>
          <a:bodyPr>
            <a:noAutofit/>
          </a:bodyPr>
          <a:lstStyle/>
          <a:p>
            <a:pPr>
              <a:lnSpc>
                <a:spcPct val="150000"/>
              </a:lnSpc>
            </a:pPr>
            <a:r>
              <a:rPr lang="en-US" sz="2800" b="1" dirty="0">
                <a:solidFill>
                  <a:schemeClr val="tx1"/>
                </a:solidFill>
                <a:latin typeface="Times New Roman" panose="02020603050405020304" pitchFamily="18" charset="0"/>
                <a:cs typeface="Times New Roman" panose="02020603050405020304" pitchFamily="18" charset="0"/>
              </a:rPr>
              <a:t> Bivariate Analysis:</a:t>
            </a:r>
            <a:br>
              <a:rPr lang="en-US" sz="2800" b="1" dirty="0">
                <a:solidFill>
                  <a:schemeClr val="tx1"/>
                </a:solidFill>
                <a:latin typeface="Times New Roman" panose="02020603050405020304" pitchFamily="18" charset="0"/>
                <a:cs typeface="Times New Roman" panose="02020603050405020304" pitchFamily="18" charset="0"/>
              </a:rPr>
            </a:br>
            <a:r>
              <a:rPr lang="en-US" sz="2800" b="1" dirty="0">
                <a:solidFill>
                  <a:schemeClr val="tx1"/>
                </a:solidFill>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City-wise Comparison of OYO Hotel Final Prices</a:t>
            </a:r>
            <a:endParaRPr lang="en-IN" sz="2800" b="1"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C05B529-4B2C-F18F-A8D2-F8222A1CD9A1}"/>
              </a:ext>
            </a:extLst>
          </p:cNvPr>
          <p:cNvPicPr>
            <a:picLocks noChangeAspect="1"/>
          </p:cNvPicPr>
          <p:nvPr/>
        </p:nvPicPr>
        <p:blipFill>
          <a:blip r:embed="rId2"/>
          <a:stretch>
            <a:fillRect/>
          </a:stretch>
        </p:blipFill>
        <p:spPr>
          <a:xfrm>
            <a:off x="5999644" y="1480739"/>
            <a:ext cx="6192356" cy="4336026"/>
          </a:xfrm>
          <a:prstGeom prst="rect">
            <a:avLst/>
          </a:prstGeom>
        </p:spPr>
      </p:pic>
      <p:sp>
        <p:nvSpPr>
          <p:cNvPr id="8" name="Rectangle 3">
            <a:extLst>
              <a:ext uri="{FF2B5EF4-FFF2-40B4-BE49-F238E27FC236}">
                <a16:creationId xmlns:a16="http://schemas.microsoft.com/office/drawing/2014/main" id="{00D08728-4531-7020-AB5E-8847D23D60B1}"/>
              </a:ext>
            </a:extLst>
          </p:cNvPr>
          <p:cNvSpPr>
            <a:spLocks noChangeArrowheads="1"/>
          </p:cNvSpPr>
          <p:nvPr/>
        </p:nvSpPr>
        <p:spPr bwMode="auto">
          <a:xfrm>
            <a:off x="308950" y="1591609"/>
            <a:ext cx="569685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Mumbai has the highest median hotel price, making it the most expensive city among the selected locations.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Hyderabad and Delhi show lower and more stable prices, indicating better affordability for budget travelers.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Price variation is highest in Mumbai and Pune, reflecting the presence of both budget and premium hotels.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Bangalore, Chennai, and Kolkata fall in the mid-price range, offering a balanced mix of affordability and price spread.</a:t>
            </a:r>
          </a:p>
        </p:txBody>
      </p:sp>
    </p:spTree>
    <p:extLst>
      <p:ext uri="{BB962C8B-B14F-4D97-AF65-F5344CB8AC3E}">
        <p14:creationId xmlns:p14="http://schemas.microsoft.com/office/powerpoint/2010/main" val="32175030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55667-5F7A-A4C2-EFC8-E358619551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D4E140-5F98-DE88-FD81-3C52AFAACE49}"/>
              </a:ext>
            </a:extLst>
          </p:cNvPr>
          <p:cNvSpPr>
            <a:spLocks noGrp="1"/>
          </p:cNvSpPr>
          <p:nvPr>
            <p:ph type="title"/>
          </p:nvPr>
        </p:nvSpPr>
        <p:spPr>
          <a:xfrm>
            <a:off x="0" y="354768"/>
            <a:ext cx="7206343" cy="614589"/>
          </a:xfrm>
        </p:spPr>
        <p:txBody>
          <a:bodyPr>
            <a:noAutofit/>
          </a:bodyPr>
          <a:lstStyle/>
          <a:p>
            <a:r>
              <a:rPr lang="en-US" sz="2800" b="1" dirty="0">
                <a:latin typeface="Times New Roman" panose="02020603050405020304" pitchFamily="18" charset="0"/>
                <a:cs typeface="Times New Roman" panose="02020603050405020304" pitchFamily="18" charset="0"/>
              </a:rPr>
              <a:t> Price Category vs Rating Category Analysis</a:t>
            </a:r>
            <a:endParaRPr lang="en-IN" sz="2800" b="1"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1733C33-C41D-3839-7887-295B7A405461}"/>
              </a:ext>
            </a:extLst>
          </p:cNvPr>
          <p:cNvPicPr>
            <a:picLocks noChangeAspect="1"/>
          </p:cNvPicPr>
          <p:nvPr/>
        </p:nvPicPr>
        <p:blipFill>
          <a:blip r:embed="rId2"/>
          <a:stretch>
            <a:fillRect/>
          </a:stretch>
        </p:blipFill>
        <p:spPr>
          <a:xfrm>
            <a:off x="7063515" y="1270000"/>
            <a:ext cx="5128485" cy="4520407"/>
          </a:xfrm>
          <a:prstGeom prst="rect">
            <a:avLst/>
          </a:prstGeom>
        </p:spPr>
      </p:pic>
      <p:sp>
        <p:nvSpPr>
          <p:cNvPr id="7" name="Rectangle 1">
            <a:extLst>
              <a:ext uri="{FF2B5EF4-FFF2-40B4-BE49-F238E27FC236}">
                <a16:creationId xmlns:a16="http://schemas.microsoft.com/office/drawing/2014/main" id="{46554C78-4514-FB02-2454-FF914F30D0F5}"/>
              </a:ext>
            </a:extLst>
          </p:cNvPr>
          <p:cNvSpPr>
            <a:spLocks noChangeArrowheads="1"/>
          </p:cNvSpPr>
          <p:nvPr/>
        </p:nvSpPr>
        <p:spPr bwMode="auto">
          <a:xfrm>
            <a:off x="71413" y="1270000"/>
            <a:ext cx="7063515"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Budget hotels receive many high ratings, showing that affordable hotels can still deliver good customer satisfaction.</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Higher prices do not always lead to better ratings, indicating price alone doesn’t guarantee quality.</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Mid-range hotels perform consistently well, offering a good balance between cost and service quality.</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Ratings across all price categories highlight that value for money and service quality matter more than price.</a:t>
            </a:r>
          </a:p>
        </p:txBody>
      </p:sp>
    </p:spTree>
    <p:extLst>
      <p:ext uri="{BB962C8B-B14F-4D97-AF65-F5344CB8AC3E}">
        <p14:creationId xmlns:p14="http://schemas.microsoft.com/office/powerpoint/2010/main" val="17751808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B6375-873F-A5A0-AEE6-0EE96A9B35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A96D57-B54C-227A-553D-FBD81EC08A9D}"/>
              </a:ext>
            </a:extLst>
          </p:cNvPr>
          <p:cNvSpPr>
            <a:spLocks noGrp="1"/>
          </p:cNvSpPr>
          <p:nvPr>
            <p:ph type="title"/>
          </p:nvPr>
        </p:nvSpPr>
        <p:spPr>
          <a:xfrm>
            <a:off x="0" y="354768"/>
            <a:ext cx="8527143" cy="614589"/>
          </a:xfrm>
        </p:spPr>
        <p:txBody>
          <a:bodyPr>
            <a:noAutofit/>
          </a:bodyPr>
          <a:lstStyle/>
          <a:p>
            <a:r>
              <a:rPr lang="en-US" sz="2800" b="1" dirty="0">
                <a:latin typeface="Times New Roman" panose="02020603050405020304" pitchFamily="18" charset="0"/>
                <a:cs typeface="Times New Roman" panose="02020603050405020304" pitchFamily="18" charset="0"/>
              </a:rPr>
              <a:t>Impact of Wizard Membership on Hotel Prices</a:t>
            </a:r>
            <a:endParaRPr lang="en-IN" sz="2800" b="1"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C41E9B6-E7BB-58B4-7038-80E9DE586107}"/>
              </a:ext>
            </a:extLst>
          </p:cNvPr>
          <p:cNvPicPr>
            <a:picLocks noChangeAspect="1"/>
          </p:cNvPicPr>
          <p:nvPr/>
        </p:nvPicPr>
        <p:blipFill>
          <a:blip r:embed="rId2"/>
          <a:stretch>
            <a:fillRect/>
          </a:stretch>
        </p:blipFill>
        <p:spPr>
          <a:xfrm>
            <a:off x="5250543" y="1421452"/>
            <a:ext cx="6553200" cy="4276353"/>
          </a:xfrm>
          <a:prstGeom prst="rect">
            <a:avLst/>
          </a:prstGeom>
        </p:spPr>
      </p:pic>
      <p:sp>
        <p:nvSpPr>
          <p:cNvPr id="8" name="TextBox 7">
            <a:extLst>
              <a:ext uri="{FF2B5EF4-FFF2-40B4-BE49-F238E27FC236}">
                <a16:creationId xmlns:a16="http://schemas.microsoft.com/office/drawing/2014/main" id="{2C77F1DA-5034-EE5E-47D0-5527709C1A5A}"/>
              </a:ext>
            </a:extLst>
          </p:cNvPr>
          <p:cNvSpPr txBox="1"/>
          <p:nvPr/>
        </p:nvSpPr>
        <p:spPr>
          <a:xfrm>
            <a:off x="253998" y="1755281"/>
            <a:ext cx="4858656" cy="2554545"/>
          </a:xfrm>
          <a:prstGeom prst="rect">
            <a:avLst/>
          </a:prstGeom>
          <a:noFill/>
        </p:spPr>
        <p:txBody>
          <a:bodyPr wrap="square">
            <a:spAutoFit/>
          </a:bodyPr>
          <a:lstStyle/>
          <a:p>
            <a:pPr marL="285750" indent="-285750">
              <a:buFont typeface="Wingdings" panose="05000000000000000000" pitchFamily="2" charset="2"/>
              <a:buChar char="Ø"/>
            </a:pPr>
            <a:r>
              <a:rPr lang="en-IN" sz="2000" dirty="0">
                <a:latin typeface="Calibri" panose="020F0502020204030204" pitchFamily="34" charset="0"/>
                <a:ea typeface="Calibri" panose="020F0502020204030204" pitchFamily="34" charset="0"/>
                <a:cs typeface="Calibri" panose="020F0502020204030204" pitchFamily="34" charset="0"/>
              </a:rPr>
              <a:t>Hotels with Wizard membership generally offer slightly lower prices.</a:t>
            </a:r>
          </a:p>
          <a:p>
            <a:pPr marL="285750" indent="-285750">
              <a:buFont typeface="Wingdings" panose="05000000000000000000" pitchFamily="2" charset="2"/>
              <a:buChar char="Ø"/>
            </a:pPr>
            <a:r>
              <a:rPr lang="en-IN" sz="2000" dirty="0">
                <a:latin typeface="Calibri" panose="020F0502020204030204" pitchFamily="34" charset="0"/>
                <a:ea typeface="Calibri" panose="020F0502020204030204" pitchFamily="34" charset="0"/>
                <a:cs typeface="Calibri" panose="020F0502020204030204" pitchFamily="34" charset="0"/>
              </a:rPr>
              <a:t>Both Wizard and non-Wizard hotels are available across similar price ranges.</a:t>
            </a:r>
          </a:p>
          <a:p>
            <a:pPr marL="285750" indent="-285750">
              <a:buFont typeface="Wingdings" panose="05000000000000000000" pitchFamily="2" charset="2"/>
              <a:buChar char="Ø"/>
            </a:pPr>
            <a:r>
              <a:rPr lang="en-IN" sz="2000" dirty="0">
                <a:latin typeface="Calibri" panose="020F0502020204030204" pitchFamily="34" charset="0"/>
                <a:ea typeface="Calibri" panose="020F0502020204030204" pitchFamily="34" charset="0"/>
                <a:cs typeface="Calibri" panose="020F0502020204030204" pitchFamily="34" charset="0"/>
              </a:rPr>
              <a:t>Higher-priced hotels are more commonly seen without Wizard membership.</a:t>
            </a:r>
          </a:p>
          <a:p>
            <a:pPr marL="285750" indent="-285750">
              <a:buFont typeface="Wingdings" panose="05000000000000000000" pitchFamily="2" charset="2"/>
              <a:buChar char="Ø"/>
            </a:pPr>
            <a:r>
              <a:rPr lang="en-IN" sz="2000" dirty="0">
                <a:latin typeface="Calibri" panose="020F0502020204030204" pitchFamily="34" charset="0"/>
                <a:ea typeface="Calibri" panose="020F0502020204030204" pitchFamily="34" charset="0"/>
                <a:cs typeface="Calibri" panose="020F0502020204030204" pitchFamily="34" charset="0"/>
              </a:rPr>
              <a:t>Wizard hotels are more concentrated in affordable price options</a:t>
            </a:r>
          </a:p>
        </p:txBody>
      </p:sp>
    </p:spTree>
    <p:extLst>
      <p:ext uri="{BB962C8B-B14F-4D97-AF65-F5344CB8AC3E}">
        <p14:creationId xmlns:p14="http://schemas.microsoft.com/office/powerpoint/2010/main" val="17732011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9818E-DAFD-9A23-AA9C-58C42077D3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B0C189-12E1-CAA7-F203-94A1E3CDCF9D}"/>
              </a:ext>
            </a:extLst>
          </p:cNvPr>
          <p:cNvSpPr>
            <a:spLocks noGrp="1"/>
          </p:cNvSpPr>
          <p:nvPr>
            <p:ph type="title"/>
          </p:nvPr>
        </p:nvSpPr>
        <p:spPr>
          <a:xfrm>
            <a:off x="-1" y="354768"/>
            <a:ext cx="8418287" cy="614589"/>
          </a:xfrm>
        </p:spPr>
        <p:txBody>
          <a:bodyPr>
            <a:noAutofit/>
          </a:bodyPr>
          <a:lstStyle/>
          <a:p>
            <a:r>
              <a:rPr lang="en-US" sz="2800" b="1" dirty="0"/>
              <a:t>Amenity Availability Across Different OYO Hotel Types</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1228D7F5-86EB-026A-C8B3-D862C9E02CF8}"/>
              </a:ext>
            </a:extLst>
          </p:cNvPr>
          <p:cNvSpPr txBox="1"/>
          <p:nvPr/>
        </p:nvSpPr>
        <p:spPr>
          <a:xfrm>
            <a:off x="0" y="1213624"/>
            <a:ext cx="6349999" cy="3477875"/>
          </a:xfrm>
          <a:prstGeom prst="rect">
            <a:avLst/>
          </a:prstGeom>
          <a:noFill/>
        </p:spPr>
        <p:txBody>
          <a:bodyPr wrap="square">
            <a:spAutoFit/>
          </a:bodyPr>
          <a:lstStyle/>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Super Townhouse, Townhouse, and Capital O hotels offer the highest number of amenities, making them more comfortable for customers. More amenities generally mean better comfort and stay experience, which customers value more than just the hotel name.</a:t>
            </a:r>
          </a:p>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OYO and Palette hotels also provide a reasonable number of amenities, making them good affordable options.</a:t>
            </a:r>
          </a:p>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Some Hotel O and Collection O properties offer very high amenities, showing that amenities can vary a lot within the same hotel type</a:t>
            </a:r>
          </a:p>
        </p:txBody>
      </p:sp>
      <p:pic>
        <p:nvPicPr>
          <p:cNvPr id="4" name="Picture 3">
            <a:extLst>
              <a:ext uri="{FF2B5EF4-FFF2-40B4-BE49-F238E27FC236}">
                <a16:creationId xmlns:a16="http://schemas.microsoft.com/office/drawing/2014/main" id="{F96D2734-27A1-982A-8A0B-2318DF8E64C0}"/>
              </a:ext>
            </a:extLst>
          </p:cNvPr>
          <p:cNvPicPr>
            <a:picLocks noChangeAspect="1"/>
          </p:cNvPicPr>
          <p:nvPr/>
        </p:nvPicPr>
        <p:blipFill>
          <a:blip r:embed="rId3"/>
          <a:stretch>
            <a:fillRect/>
          </a:stretch>
        </p:blipFill>
        <p:spPr>
          <a:xfrm>
            <a:off x="6096000" y="1295930"/>
            <a:ext cx="5732786" cy="4742014"/>
          </a:xfrm>
          <a:prstGeom prst="rect">
            <a:avLst/>
          </a:prstGeom>
        </p:spPr>
      </p:pic>
    </p:spTree>
    <p:extLst>
      <p:ext uri="{BB962C8B-B14F-4D97-AF65-F5344CB8AC3E}">
        <p14:creationId xmlns:p14="http://schemas.microsoft.com/office/powerpoint/2010/main" val="42184139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7BBF4-1CFA-CD8B-899F-E41585DD19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0BB468-2A6E-A565-4345-2C57412BA21E}"/>
              </a:ext>
            </a:extLst>
          </p:cNvPr>
          <p:cNvSpPr>
            <a:spLocks noGrp="1"/>
          </p:cNvSpPr>
          <p:nvPr>
            <p:ph type="title"/>
          </p:nvPr>
        </p:nvSpPr>
        <p:spPr>
          <a:xfrm>
            <a:off x="-1" y="354768"/>
            <a:ext cx="9020629" cy="614589"/>
          </a:xfrm>
        </p:spPr>
        <p:txBody>
          <a:bodyPr>
            <a:noAutofit/>
          </a:bodyPr>
          <a:lstStyle/>
          <a:p>
            <a:r>
              <a:rPr lang="en-US" sz="2800" b="1" dirty="0"/>
              <a:t>   Price Category Distribution Across OYO Hotel Types</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EAE2E40-2FB2-04D8-FD57-E214BC76FFF0}"/>
              </a:ext>
            </a:extLst>
          </p:cNvPr>
          <p:cNvSpPr txBox="1"/>
          <p:nvPr/>
        </p:nvSpPr>
        <p:spPr>
          <a:xfrm>
            <a:off x="253451" y="1206367"/>
            <a:ext cx="6111063" cy="3884205"/>
          </a:xfrm>
          <a:prstGeom prst="rect">
            <a:avLst/>
          </a:prstGeom>
          <a:noFill/>
        </p:spPr>
        <p:txBody>
          <a:bodyPr wrap="square">
            <a:spAutoFit/>
          </a:bodyPr>
          <a:lstStyle/>
          <a:p>
            <a:pPr marL="457200" lvl="0" indent="-457200" algn="just" eaLnBrk="0" fontAlgn="base" hangingPunct="0">
              <a:spcBef>
                <a:spcPct val="0"/>
              </a:spcBef>
              <a:spcAft>
                <a:spcPct val="0"/>
              </a:spcAft>
              <a:buClrTx/>
              <a:buFont typeface="Wingdings" panose="05000000000000000000" pitchFamily="2" charset="2"/>
              <a:buChar char="Ø"/>
            </a:pPr>
            <a:r>
              <a:rPr lang="en-US" alt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Hotel O and Collection O are mainly in the budget category, offering affordable stays with decent service.</a:t>
            </a:r>
          </a:p>
          <a:p>
            <a:pPr marL="457200" lvl="0" indent="-457200" algn="just" eaLnBrk="0" fontAlgn="base" hangingPunct="0">
              <a:spcBef>
                <a:spcPct val="0"/>
              </a:spcBef>
              <a:spcAft>
                <a:spcPct val="0"/>
              </a:spcAft>
              <a:buClrTx/>
              <a:buFont typeface="Wingdings" panose="05000000000000000000" pitchFamily="2" charset="2"/>
              <a:buChar char="Ø"/>
            </a:pPr>
            <a:r>
              <a:rPr lang="en-US" alt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Hotel O, Super Townhouse, and Other hotels dominate the mid-price segment, balancing comfort and cost.</a:t>
            </a:r>
          </a:p>
          <a:p>
            <a:pPr marL="457200" lvl="0" indent="-457200" algn="just" eaLnBrk="0" fontAlgn="base" hangingPunct="0">
              <a:spcBef>
                <a:spcPct val="0"/>
              </a:spcBef>
              <a:spcAft>
                <a:spcPct val="0"/>
              </a:spcAft>
              <a:buClrTx/>
              <a:buFont typeface="Wingdings" panose="05000000000000000000" pitchFamily="2" charset="2"/>
              <a:buChar char="Ø"/>
            </a:pPr>
            <a:r>
              <a:rPr lang="en-US" alt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Super Townhouse, Palette, and OYO also appear in the premium category, though in smaller numbers.</a:t>
            </a:r>
          </a:p>
          <a:p>
            <a:pPr marL="457200" lvl="0" indent="-457200" algn="just" eaLnBrk="0" fontAlgn="base" hangingPunct="0">
              <a:spcBef>
                <a:spcPct val="0"/>
              </a:spcBef>
              <a:spcAft>
                <a:spcPct val="0"/>
              </a:spcAft>
              <a:buClrTx/>
              <a:buFont typeface="Wingdings" panose="05000000000000000000" pitchFamily="2" charset="2"/>
              <a:buChar char="Ø"/>
            </a:pPr>
            <a:r>
              <a:rPr lang="en-US" alt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Overall, OYO offers multiple hotel types across price ranges, allowing customers to choose based on budget and comfort needs.</a:t>
            </a:r>
          </a:p>
          <a:p>
            <a:pPr>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3C480DCF-2248-A769-2B79-6A9EDB8780DC}"/>
              </a:ext>
            </a:extLst>
          </p:cNvPr>
          <p:cNvSpPr>
            <a:spLocks noChangeArrowheads="1"/>
          </p:cNvSpPr>
          <p:nvPr/>
        </p:nvSpPr>
        <p:spPr bwMode="auto">
          <a:xfrm>
            <a:off x="849086" y="3228944"/>
            <a:ext cx="65169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DD8458E5-95C1-AA22-1B47-0A788F6D7082}"/>
              </a:ext>
            </a:extLst>
          </p:cNvPr>
          <p:cNvPicPr>
            <a:picLocks noChangeAspect="1"/>
          </p:cNvPicPr>
          <p:nvPr/>
        </p:nvPicPr>
        <p:blipFill>
          <a:blip r:embed="rId2"/>
          <a:stretch>
            <a:fillRect/>
          </a:stretch>
        </p:blipFill>
        <p:spPr>
          <a:xfrm>
            <a:off x="6364514" y="1068481"/>
            <a:ext cx="5476101" cy="4276353"/>
          </a:xfrm>
          <a:prstGeom prst="rect">
            <a:avLst/>
          </a:prstGeom>
        </p:spPr>
      </p:pic>
    </p:spTree>
    <p:extLst>
      <p:ext uri="{BB962C8B-B14F-4D97-AF65-F5344CB8AC3E}">
        <p14:creationId xmlns:p14="http://schemas.microsoft.com/office/powerpoint/2010/main" val="30978810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9B56F-CE91-689B-D969-3B9BEF8756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41CBF-5171-F58F-E6DC-193491D4D0C2}"/>
              </a:ext>
            </a:extLst>
          </p:cNvPr>
          <p:cNvSpPr>
            <a:spLocks noGrp="1"/>
          </p:cNvSpPr>
          <p:nvPr>
            <p:ph type="title"/>
          </p:nvPr>
        </p:nvSpPr>
        <p:spPr>
          <a:xfrm>
            <a:off x="254000" y="260425"/>
            <a:ext cx="7249886" cy="614589"/>
          </a:xfrm>
        </p:spPr>
        <p:txBody>
          <a:bodyPr>
            <a:noAutofit/>
          </a:bodyPr>
          <a:lstStyle/>
          <a:p>
            <a:r>
              <a:rPr lang="en-US" sz="2800" b="1" dirty="0">
                <a:latin typeface="Times New Roman" panose="02020603050405020304" pitchFamily="18" charset="0"/>
                <a:cs typeface="Times New Roman" panose="02020603050405020304" pitchFamily="18" charset="0"/>
              </a:rPr>
              <a:t>Top Cities Based on Review-Weighted Ratings</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E87AF65-3901-0BB9-4EB3-70E37ADAA8A0}"/>
              </a:ext>
            </a:extLst>
          </p:cNvPr>
          <p:cNvSpPr txBox="1"/>
          <p:nvPr/>
        </p:nvSpPr>
        <p:spPr>
          <a:xfrm>
            <a:off x="449943" y="1114101"/>
            <a:ext cx="5352692" cy="2862322"/>
          </a:xfrm>
          <a:prstGeom prst="rect">
            <a:avLst/>
          </a:prstGeom>
          <a:noFill/>
        </p:spPr>
        <p:txBody>
          <a:bodyPr wrap="square">
            <a:spAutoFit/>
          </a:bodyPr>
          <a:lstStyle/>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Bangalore has the highest overall hotel rating based on customer reviews</a:t>
            </a:r>
          </a:p>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Delhi and Kolkata closely follow, showing consistently high hotel ratings</a:t>
            </a:r>
          </a:p>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Hyderabad and Mumbai also appear among the top-rated cities</a:t>
            </a:r>
          </a:p>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 Higher ratings may be influenced by service quality, hotel standards, and customer expectations in these cities</a:t>
            </a:r>
          </a:p>
        </p:txBody>
      </p:sp>
      <p:pic>
        <p:nvPicPr>
          <p:cNvPr id="4" name="Picture 3">
            <a:extLst>
              <a:ext uri="{FF2B5EF4-FFF2-40B4-BE49-F238E27FC236}">
                <a16:creationId xmlns:a16="http://schemas.microsoft.com/office/drawing/2014/main" id="{A9976767-1A5F-4189-1514-AF1F571B5528}"/>
              </a:ext>
            </a:extLst>
          </p:cNvPr>
          <p:cNvPicPr>
            <a:picLocks noChangeAspect="1"/>
          </p:cNvPicPr>
          <p:nvPr/>
        </p:nvPicPr>
        <p:blipFill>
          <a:blip r:embed="rId2"/>
          <a:stretch>
            <a:fillRect/>
          </a:stretch>
        </p:blipFill>
        <p:spPr>
          <a:xfrm>
            <a:off x="6172201" y="1114101"/>
            <a:ext cx="5569856" cy="4273169"/>
          </a:xfrm>
          <a:prstGeom prst="rect">
            <a:avLst/>
          </a:prstGeom>
        </p:spPr>
      </p:pic>
    </p:spTree>
    <p:extLst>
      <p:ext uri="{BB962C8B-B14F-4D97-AF65-F5344CB8AC3E}">
        <p14:creationId xmlns:p14="http://schemas.microsoft.com/office/powerpoint/2010/main" val="22825122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1163E-B503-037C-2AE0-8CCA79A2A8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B7F248-8508-E23B-06A8-1210B3343205}"/>
              </a:ext>
            </a:extLst>
          </p:cNvPr>
          <p:cNvSpPr>
            <a:spLocks noGrp="1"/>
          </p:cNvSpPr>
          <p:nvPr>
            <p:ph type="title"/>
          </p:nvPr>
        </p:nvSpPr>
        <p:spPr>
          <a:xfrm>
            <a:off x="239485" y="216882"/>
            <a:ext cx="8773886" cy="1691747"/>
          </a:xfrm>
        </p:spPr>
        <p:txBody>
          <a:bodyPr>
            <a:noAutofit/>
          </a:bodyPr>
          <a:lstStyle/>
          <a:p>
            <a:pPr>
              <a:lnSpc>
                <a:spcPct val="150000"/>
              </a:lnSpc>
            </a:pPr>
            <a:r>
              <a:rPr lang="en-US" sz="2800" b="1" dirty="0">
                <a:latin typeface="Times New Roman" panose="02020603050405020304" pitchFamily="18" charset="0"/>
                <a:cs typeface="Times New Roman" panose="02020603050405020304" pitchFamily="18" charset="0"/>
              </a:rPr>
              <a:t>Multivariate Analysis</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City &amp; Hotel Type Pricing Landscape (Median Prices)</a:t>
            </a:r>
            <a:br>
              <a:rPr lang="en-US" sz="2800" dirty="0"/>
            </a:br>
            <a:endParaRPr lang="en-IN" sz="2800" b="1"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51527CD-8366-2AFB-8745-6DB570366E8B}"/>
              </a:ext>
            </a:extLst>
          </p:cNvPr>
          <p:cNvPicPr>
            <a:picLocks noChangeAspect="1"/>
          </p:cNvPicPr>
          <p:nvPr/>
        </p:nvPicPr>
        <p:blipFill>
          <a:blip r:embed="rId2"/>
          <a:stretch>
            <a:fillRect/>
          </a:stretch>
        </p:blipFill>
        <p:spPr>
          <a:xfrm>
            <a:off x="166913" y="1385775"/>
            <a:ext cx="9572173" cy="2953996"/>
          </a:xfrm>
          <a:prstGeom prst="rect">
            <a:avLst/>
          </a:prstGeom>
        </p:spPr>
      </p:pic>
      <p:sp>
        <p:nvSpPr>
          <p:cNvPr id="6" name="Rectangle 1">
            <a:extLst>
              <a:ext uri="{FF2B5EF4-FFF2-40B4-BE49-F238E27FC236}">
                <a16:creationId xmlns:a16="http://schemas.microsoft.com/office/drawing/2014/main" id="{26253B1F-E2BA-E17A-1949-E92CA8307A09}"/>
              </a:ext>
            </a:extLst>
          </p:cNvPr>
          <p:cNvSpPr>
            <a:spLocks noChangeArrowheads="1"/>
          </p:cNvSpPr>
          <p:nvPr/>
        </p:nvSpPr>
        <p:spPr bwMode="auto">
          <a:xfrm>
            <a:off x="493486" y="4339771"/>
            <a:ext cx="1067525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Hotel O and Collection O are the most budget-friendly options across most cities.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Townhouse and Super Townhouse mainly fall in the mid-price range, balancing comfort and cost.</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Palette hotels have the highest median prices, especially in Mumbai, Delhi, and Pune, reflecting premium positioning.</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Mumbai and Delhi are generally more expensive across hotel types, while Bangalore and Hyderabad remain relatively affordable.</a:t>
            </a:r>
          </a:p>
        </p:txBody>
      </p:sp>
    </p:spTree>
    <p:extLst>
      <p:ext uri="{BB962C8B-B14F-4D97-AF65-F5344CB8AC3E}">
        <p14:creationId xmlns:p14="http://schemas.microsoft.com/office/powerpoint/2010/main" val="37851957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CAB2A-6DB6-60F3-9DA7-C5E9A2C098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A76959-0E31-A55F-E041-FD56EDCB345E}"/>
              </a:ext>
            </a:extLst>
          </p:cNvPr>
          <p:cNvSpPr>
            <a:spLocks noGrp="1"/>
          </p:cNvSpPr>
          <p:nvPr>
            <p:ph type="title"/>
          </p:nvPr>
        </p:nvSpPr>
        <p:spPr>
          <a:xfrm>
            <a:off x="253999" y="260425"/>
            <a:ext cx="9862457" cy="614589"/>
          </a:xfrm>
        </p:spPr>
        <p:txBody>
          <a:bodyPr>
            <a:noAutofit/>
          </a:bodyPr>
          <a:lstStyle/>
          <a:p>
            <a:r>
              <a:rPr lang="en-US" sz="2800" b="1" dirty="0">
                <a:latin typeface="Times New Roman" panose="02020603050405020304" pitchFamily="18" charset="0"/>
                <a:cs typeface="Times New Roman" panose="02020603050405020304" pitchFamily="18" charset="0"/>
              </a:rPr>
              <a:t>Key Numerical Factors Influencing Final Hotel Price</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77A7941-E775-A380-FF4D-8BB7F205E3F0}"/>
              </a:ext>
            </a:extLst>
          </p:cNvPr>
          <p:cNvSpPr txBox="1"/>
          <p:nvPr/>
        </p:nvSpPr>
        <p:spPr>
          <a:xfrm>
            <a:off x="253999" y="1081575"/>
            <a:ext cx="5842001" cy="4708981"/>
          </a:xfrm>
          <a:prstGeom prst="rect">
            <a:avLst/>
          </a:prstGeom>
          <a:noFill/>
        </p:spPr>
        <p:txBody>
          <a:bodyPr wrap="square">
            <a:spAutoFit/>
          </a:bodyPr>
          <a:lstStyle/>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Final price is mainly driven by the original price — higher listed prices directly lead to higher final prices</a:t>
            </a:r>
          </a:p>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Taxes increase along with room prices, which means expensive hotels add a bigger tax burden to customers</a:t>
            </a:r>
          </a:p>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Discounts help reduce the final price, showing that promotions play a real role in making hotels more affordable</a:t>
            </a:r>
          </a:p>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Amenities have only a small impact on pricing, suggesting hotels don’t increase prices heavily just for adding amenities</a:t>
            </a:r>
          </a:p>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Hotel ratings have very little influence on price, meaning highly rated hotels are not always expensive</a:t>
            </a:r>
          </a:p>
        </p:txBody>
      </p:sp>
      <p:pic>
        <p:nvPicPr>
          <p:cNvPr id="5" name="Picture 4">
            <a:extLst>
              <a:ext uri="{FF2B5EF4-FFF2-40B4-BE49-F238E27FC236}">
                <a16:creationId xmlns:a16="http://schemas.microsoft.com/office/drawing/2014/main" id="{9B9CB90C-C29E-1E5A-AF13-A6CBBED3A3C7}"/>
              </a:ext>
            </a:extLst>
          </p:cNvPr>
          <p:cNvPicPr>
            <a:picLocks noChangeAspect="1"/>
          </p:cNvPicPr>
          <p:nvPr/>
        </p:nvPicPr>
        <p:blipFill>
          <a:blip r:embed="rId2"/>
          <a:stretch>
            <a:fillRect/>
          </a:stretch>
        </p:blipFill>
        <p:spPr>
          <a:xfrm>
            <a:off x="6096000" y="1114102"/>
            <a:ext cx="5936343" cy="4633555"/>
          </a:xfrm>
          <a:prstGeom prst="rect">
            <a:avLst/>
          </a:prstGeom>
        </p:spPr>
      </p:pic>
    </p:spTree>
    <p:extLst>
      <p:ext uri="{BB962C8B-B14F-4D97-AF65-F5344CB8AC3E}">
        <p14:creationId xmlns:p14="http://schemas.microsoft.com/office/powerpoint/2010/main" val="32323351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9D236-01FC-EE92-A7A2-0907C9D1F5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1234E0-535B-24AB-398D-F4F37779B62E}"/>
              </a:ext>
            </a:extLst>
          </p:cNvPr>
          <p:cNvSpPr>
            <a:spLocks noGrp="1"/>
          </p:cNvSpPr>
          <p:nvPr>
            <p:ph type="title"/>
          </p:nvPr>
        </p:nvSpPr>
        <p:spPr>
          <a:xfrm>
            <a:off x="254000" y="260425"/>
            <a:ext cx="10668000" cy="614589"/>
          </a:xfrm>
        </p:spPr>
        <p:txBody>
          <a:bodyPr>
            <a:noAutofit/>
          </a:bodyPr>
          <a:lstStyle/>
          <a:p>
            <a:r>
              <a:rPr lang="en-US" sz="2800" b="1" dirty="0">
                <a:latin typeface="Times New Roman" panose="02020603050405020304" pitchFamily="18" charset="0"/>
                <a:cs typeface="Times New Roman" panose="02020603050405020304" pitchFamily="18" charset="0"/>
              </a:rPr>
              <a:t>Relationship Between Final Price and Tax Amount Across Cities</a:t>
            </a:r>
            <a:endParaRPr lang="en-IN" sz="2800" b="1"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7D656E8-359B-234E-B1C4-632056BA3890}"/>
              </a:ext>
            </a:extLst>
          </p:cNvPr>
          <p:cNvPicPr>
            <a:picLocks noChangeAspect="1"/>
          </p:cNvPicPr>
          <p:nvPr/>
        </p:nvPicPr>
        <p:blipFill>
          <a:blip r:embed="rId2"/>
          <a:stretch>
            <a:fillRect/>
          </a:stretch>
        </p:blipFill>
        <p:spPr>
          <a:xfrm>
            <a:off x="6349999" y="1220719"/>
            <a:ext cx="5842001" cy="4416561"/>
          </a:xfrm>
          <a:prstGeom prst="rect">
            <a:avLst/>
          </a:prstGeom>
        </p:spPr>
      </p:pic>
      <p:sp>
        <p:nvSpPr>
          <p:cNvPr id="11" name="TextBox 10">
            <a:extLst>
              <a:ext uri="{FF2B5EF4-FFF2-40B4-BE49-F238E27FC236}">
                <a16:creationId xmlns:a16="http://schemas.microsoft.com/office/drawing/2014/main" id="{A0582A4C-CF36-EDC3-80E9-7CEBDDE74DCC}"/>
              </a:ext>
            </a:extLst>
          </p:cNvPr>
          <p:cNvSpPr txBox="1"/>
          <p:nvPr/>
        </p:nvSpPr>
        <p:spPr>
          <a:xfrm>
            <a:off x="399144" y="1041737"/>
            <a:ext cx="6096000" cy="4093428"/>
          </a:xfrm>
          <a:prstGeom prst="rect">
            <a:avLst/>
          </a:prstGeom>
          <a:noFill/>
        </p:spPr>
        <p:txBody>
          <a:bodyPr wrap="square">
            <a:spAutoFit/>
          </a:bodyPr>
          <a:lstStyle/>
          <a:p>
            <a:pPr marL="342900" indent="-342900">
              <a:buFont typeface="Wingdings" panose="05000000000000000000" pitchFamily="2" charset="2"/>
              <a:buChar char="Ø"/>
            </a:pPr>
            <a:r>
              <a:rPr lang="en-IN" sz="2000" dirty="0">
                <a:latin typeface="Calibri" panose="020F0502020204030204" pitchFamily="34" charset="0"/>
                <a:ea typeface="Calibri" panose="020F0502020204030204" pitchFamily="34" charset="0"/>
                <a:cs typeface="Calibri" panose="020F0502020204030204" pitchFamily="34" charset="0"/>
              </a:rPr>
              <a:t>Tax amount increases steadily with final price across all cities, showing a consistent pricing–tax structure</a:t>
            </a:r>
          </a:p>
          <a:p>
            <a:pPr marL="342900" indent="-342900">
              <a:buFont typeface="Wingdings" panose="05000000000000000000" pitchFamily="2" charset="2"/>
              <a:buChar char="Ø"/>
            </a:pPr>
            <a:r>
              <a:rPr lang="en-IN" sz="2000" dirty="0">
                <a:latin typeface="Calibri" panose="020F0502020204030204" pitchFamily="34" charset="0"/>
                <a:ea typeface="Calibri" panose="020F0502020204030204" pitchFamily="34" charset="0"/>
                <a:cs typeface="Calibri" panose="020F0502020204030204" pitchFamily="34" charset="0"/>
              </a:rPr>
              <a:t>Mumbai and Hyderabad show the highest tax values at higher price levels, indicating a higher overall cost burden for expensive hotels</a:t>
            </a:r>
          </a:p>
          <a:p>
            <a:pPr marL="342900" indent="-342900">
              <a:buFont typeface="Wingdings" panose="05000000000000000000" pitchFamily="2" charset="2"/>
              <a:buChar char="Ø"/>
            </a:pPr>
            <a:r>
              <a:rPr lang="en-IN" sz="2000" dirty="0">
                <a:latin typeface="Calibri" panose="020F0502020204030204" pitchFamily="34" charset="0"/>
                <a:ea typeface="Calibri" panose="020F0502020204030204" pitchFamily="34" charset="0"/>
                <a:cs typeface="Calibri" panose="020F0502020204030204" pitchFamily="34" charset="0"/>
              </a:rPr>
              <a:t>Bangalore and Kolkata are more concentrated in lower price and tax ranges, making them relatively more affordable for budget </a:t>
            </a:r>
            <a:r>
              <a:rPr lang="en-IN" sz="2000" dirty="0" err="1">
                <a:latin typeface="Calibri" panose="020F0502020204030204" pitchFamily="34" charset="0"/>
                <a:ea typeface="Calibri" panose="020F0502020204030204" pitchFamily="34" charset="0"/>
                <a:cs typeface="Calibri" panose="020F0502020204030204" pitchFamily="34" charset="0"/>
              </a:rPr>
              <a:t>travelers</a:t>
            </a:r>
            <a:endParaRPr lang="en-IN" sz="20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Ø"/>
            </a:pPr>
            <a:r>
              <a:rPr lang="en-IN" sz="2000" dirty="0">
                <a:latin typeface="Calibri" panose="020F0502020204030204" pitchFamily="34" charset="0"/>
                <a:ea typeface="Calibri" panose="020F0502020204030204" pitchFamily="34" charset="0"/>
                <a:cs typeface="Calibri" panose="020F0502020204030204" pitchFamily="34" charset="0"/>
              </a:rPr>
              <a:t>Delhi and Chennai fall in the mid-to-high range, with taxes rising sharply as hotel prices increase</a:t>
            </a:r>
          </a:p>
          <a:p>
            <a:pPr marL="342900" indent="-342900">
              <a:buFont typeface="Wingdings" panose="05000000000000000000" pitchFamily="2" charset="2"/>
              <a:buChar char="Ø"/>
            </a:pPr>
            <a:r>
              <a:rPr lang="en-IN" sz="2000" dirty="0">
                <a:latin typeface="Calibri" panose="020F0502020204030204" pitchFamily="34" charset="0"/>
                <a:ea typeface="Calibri" panose="020F0502020204030204" pitchFamily="34" charset="0"/>
                <a:cs typeface="Calibri" panose="020F0502020204030204" pitchFamily="34" charset="0"/>
              </a:rPr>
              <a:t>At similar final prices, tax amounts remain fairly consistent across cities, suggesting tax is largely price-driven rather than city-specific</a:t>
            </a:r>
          </a:p>
        </p:txBody>
      </p:sp>
    </p:spTree>
    <p:extLst>
      <p:ext uri="{BB962C8B-B14F-4D97-AF65-F5344CB8AC3E}">
        <p14:creationId xmlns:p14="http://schemas.microsoft.com/office/powerpoint/2010/main" val="3810307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478F1-8F22-9D49-C64F-F91CDDA6C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F08F2-BEF7-522E-D9A6-0CFB1F0A8AF5}"/>
              </a:ext>
            </a:extLst>
          </p:cNvPr>
          <p:cNvSpPr>
            <a:spLocks noGrp="1"/>
          </p:cNvSpPr>
          <p:nvPr>
            <p:ph type="title"/>
          </p:nvPr>
        </p:nvSpPr>
        <p:spPr>
          <a:xfrm>
            <a:off x="253999" y="260425"/>
            <a:ext cx="9187543" cy="614589"/>
          </a:xfrm>
        </p:spPr>
        <p:txBody>
          <a:bodyPr>
            <a:noAutofit/>
          </a:bodyPr>
          <a:lstStyle/>
          <a:p>
            <a:r>
              <a:rPr lang="en-US" sz="2800" b="1" dirty="0">
                <a:latin typeface="Times New Roman" panose="02020603050405020304" pitchFamily="18" charset="0"/>
                <a:cs typeface="Times New Roman" panose="02020603050405020304" pitchFamily="18" charset="0"/>
              </a:rPr>
              <a:t>Impact of Amenities on Final Price Across Hotel Types</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95AA7F3-DE93-3BDF-9076-3A582D90C913}"/>
              </a:ext>
            </a:extLst>
          </p:cNvPr>
          <p:cNvSpPr txBox="1"/>
          <p:nvPr/>
        </p:nvSpPr>
        <p:spPr>
          <a:xfrm>
            <a:off x="573314" y="4204662"/>
            <a:ext cx="10319657" cy="1631216"/>
          </a:xfrm>
          <a:prstGeom prst="rect">
            <a:avLst/>
          </a:prstGeom>
          <a:noFill/>
        </p:spPr>
        <p:txBody>
          <a:bodyPr wrap="square">
            <a:spAutoFit/>
          </a:bodyPr>
          <a:lstStyle/>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Hotels with more amenities usually charge higher prices across most hotel types</a:t>
            </a:r>
          </a:p>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In budget hotel types, prices increase only slightly even when amenities increase</a:t>
            </a:r>
          </a:p>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Mid-range hotel types show a clear price increase as amenities move from low to high</a:t>
            </a:r>
          </a:p>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Premium hotel types already start at higher prices, so additional amenities change prices less.</a:t>
            </a:r>
          </a:p>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Overall, amenities influence price, but hotel type matters more.</a:t>
            </a:r>
          </a:p>
        </p:txBody>
      </p:sp>
      <p:pic>
        <p:nvPicPr>
          <p:cNvPr id="5" name="Picture 4">
            <a:extLst>
              <a:ext uri="{FF2B5EF4-FFF2-40B4-BE49-F238E27FC236}">
                <a16:creationId xmlns:a16="http://schemas.microsoft.com/office/drawing/2014/main" id="{4208A641-7019-C49A-AC6E-14266EFF4BB8}"/>
              </a:ext>
            </a:extLst>
          </p:cNvPr>
          <p:cNvPicPr>
            <a:picLocks noChangeAspect="1"/>
          </p:cNvPicPr>
          <p:nvPr/>
        </p:nvPicPr>
        <p:blipFill>
          <a:blip r:embed="rId2"/>
          <a:stretch>
            <a:fillRect/>
          </a:stretch>
        </p:blipFill>
        <p:spPr>
          <a:xfrm>
            <a:off x="1444162" y="1021545"/>
            <a:ext cx="8839218" cy="3036586"/>
          </a:xfrm>
          <a:prstGeom prst="rect">
            <a:avLst/>
          </a:prstGeom>
        </p:spPr>
      </p:pic>
    </p:spTree>
    <p:extLst>
      <p:ext uri="{BB962C8B-B14F-4D97-AF65-F5344CB8AC3E}">
        <p14:creationId xmlns:p14="http://schemas.microsoft.com/office/powerpoint/2010/main" val="762451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DD49A-BA86-0304-DE20-A83E42E59B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2A38B6-A443-8222-484A-B7018A48D27A}"/>
              </a:ext>
            </a:extLst>
          </p:cNvPr>
          <p:cNvSpPr>
            <a:spLocks noGrp="1"/>
          </p:cNvSpPr>
          <p:nvPr>
            <p:ph type="title"/>
          </p:nvPr>
        </p:nvSpPr>
        <p:spPr>
          <a:xfrm>
            <a:off x="254000" y="193675"/>
            <a:ext cx="10826750" cy="904875"/>
          </a:xfrm>
        </p:spPr>
        <p:txBody>
          <a:bodyPr>
            <a:noAutofit/>
          </a:bodyPr>
          <a:lstStyle/>
          <a:p>
            <a:r>
              <a:rPr lang="en-US" sz="2800" b="1" dirty="0">
                <a:latin typeface="Times New Roman" panose="02020603050405020304" pitchFamily="18" charset="0"/>
                <a:ea typeface="Calibri" panose="020F0502020204030204" pitchFamily="34" charset="0"/>
                <a:cs typeface="Times New Roman" panose="02020603050405020304" pitchFamily="18" charset="0"/>
              </a:rPr>
              <a:t>FINAL</a:t>
            </a:r>
            <a:r>
              <a:rPr lang="en-US" sz="2800" b="1" spc="-75" dirty="0">
                <a:latin typeface="Times New Roman" panose="02020603050405020304" pitchFamily="18" charset="0"/>
                <a:ea typeface="Calibri" panose="020F0502020204030204" pitchFamily="34" charset="0"/>
                <a:cs typeface="Times New Roman" panose="02020603050405020304" pitchFamily="18" charset="0"/>
              </a:rPr>
              <a:t> </a:t>
            </a:r>
            <a:r>
              <a:rPr lang="en-US" sz="2800" b="1" dirty="0">
                <a:latin typeface="Times New Roman" panose="02020603050405020304" pitchFamily="18" charset="0"/>
                <a:ea typeface="Calibri" panose="020F0502020204030204" pitchFamily="34" charset="0"/>
                <a:cs typeface="Times New Roman" panose="02020603050405020304" pitchFamily="18" charset="0"/>
              </a:rPr>
              <a:t>BUSINESS</a:t>
            </a:r>
            <a:r>
              <a:rPr lang="en-US" sz="2800" b="1" spc="-70" dirty="0">
                <a:latin typeface="Times New Roman" panose="02020603050405020304" pitchFamily="18" charset="0"/>
                <a:ea typeface="Calibri" panose="020F0502020204030204" pitchFamily="34" charset="0"/>
                <a:cs typeface="Times New Roman" panose="02020603050405020304" pitchFamily="18" charset="0"/>
              </a:rPr>
              <a:t> </a:t>
            </a:r>
            <a:r>
              <a:rPr lang="en-US" sz="2800" b="1" dirty="0">
                <a:latin typeface="Times New Roman" panose="02020603050405020304" pitchFamily="18" charset="0"/>
                <a:ea typeface="Calibri" panose="020F0502020204030204" pitchFamily="34" charset="0"/>
                <a:cs typeface="Times New Roman" panose="02020603050405020304" pitchFamily="18" charset="0"/>
              </a:rPr>
              <a:t>INSIGHTS</a:t>
            </a:r>
            <a:r>
              <a:rPr lang="en-US" sz="2800" b="1" spc="-70" dirty="0">
                <a:latin typeface="Times New Roman" panose="02020603050405020304" pitchFamily="18" charset="0"/>
                <a:ea typeface="Calibri" panose="020F0502020204030204" pitchFamily="34" charset="0"/>
                <a:cs typeface="Times New Roman" panose="02020603050405020304" pitchFamily="18" charset="0"/>
              </a:rPr>
              <a:t> </a:t>
            </a:r>
            <a:r>
              <a:rPr lang="en-US" sz="2800" b="1" dirty="0">
                <a:latin typeface="Times New Roman" panose="02020603050405020304" pitchFamily="18" charset="0"/>
                <a:ea typeface="Calibri" panose="020F0502020204030204" pitchFamily="34" charset="0"/>
                <a:cs typeface="Times New Roman" panose="02020603050405020304" pitchFamily="18" charset="0"/>
              </a:rPr>
              <a:t>AND</a:t>
            </a:r>
            <a:r>
              <a:rPr lang="en-US" sz="2800" b="1" spc="-70" dirty="0">
                <a:latin typeface="Times New Roman" panose="02020603050405020304" pitchFamily="18" charset="0"/>
                <a:ea typeface="Calibri" panose="020F0502020204030204" pitchFamily="34" charset="0"/>
                <a:cs typeface="Times New Roman" panose="02020603050405020304" pitchFamily="18" charset="0"/>
              </a:rPr>
              <a:t> </a:t>
            </a:r>
            <a:r>
              <a:rPr lang="en-US" sz="2800" b="1" spc="-10" dirty="0">
                <a:latin typeface="Times New Roman" panose="02020603050405020304" pitchFamily="18" charset="0"/>
                <a:ea typeface="Calibri" panose="020F0502020204030204" pitchFamily="34" charset="0"/>
                <a:cs typeface="Times New Roman" panose="02020603050405020304" pitchFamily="18" charset="0"/>
              </a:rPr>
              <a:t>RECOMMENDATIONS</a:t>
            </a:r>
            <a:r>
              <a:rPr lang="en-IN" sz="2800" b="1" dirty="0">
                <a:solidFill>
                  <a:schemeClr val="tx1"/>
                </a:solidFill>
                <a:latin typeface="Times New Roman" panose="02020603050405020304" pitchFamily="18" charset="0"/>
                <a:cs typeface="Times New Roman" panose="02020603050405020304" pitchFamily="18" charset="0"/>
              </a:rPr>
              <a:t>:</a:t>
            </a:r>
          </a:p>
        </p:txBody>
      </p:sp>
      <p:sp>
        <p:nvSpPr>
          <p:cNvPr id="4" name="Rectangle 1">
            <a:extLst>
              <a:ext uri="{FF2B5EF4-FFF2-40B4-BE49-F238E27FC236}">
                <a16:creationId xmlns:a16="http://schemas.microsoft.com/office/drawing/2014/main" id="{361207F1-2AC1-2529-465D-2F4523A57485}"/>
              </a:ext>
            </a:extLst>
          </p:cNvPr>
          <p:cNvSpPr>
            <a:spLocks noChangeArrowheads="1"/>
          </p:cNvSpPr>
          <p:nvPr/>
        </p:nvSpPr>
        <p:spPr bwMode="auto">
          <a:xfrm>
            <a:off x="326572" y="925168"/>
            <a:ext cx="1082675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Key Insights</a:t>
            </a:r>
          </a:p>
          <a:p>
            <a:r>
              <a:rPr lang="en-US" sz="2000" dirty="0">
                <a:latin typeface="Calibri" panose="020F0502020204030204" pitchFamily="34" charset="0"/>
                <a:ea typeface="Calibri" panose="020F0502020204030204" pitchFamily="34" charset="0"/>
                <a:cs typeface="Calibri" panose="020F0502020204030204" pitchFamily="34" charset="0"/>
              </a:rPr>
              <a:t>➤ Budget and mid-range hotels form the majority of OYO listings, showing strong customer preference for affordable stays.</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 Cities like Mumbai and Delhi have higher hotel prices and taxes, while cities like Bangalore and Hyderabad remain more affordable.</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 High customer ratings are achieved across all price ranges, proving that good service matters more than high pricing.</a:t>
            </a:r>
          </a:p>
          <a:p>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b="1" dirty="0">
                <a:latin typeface="Calibri" panose="020F0502020204030204" pitchFamily="34" charset="0"/>
                <a:ea typeface="Calibri" panose="020F0502020204030204" pitchFamily="34" charset="0"/>
                <a:cs typeface="Calibri" panose="020F0502020204030204" pitchFamily="34" charset="0"/>
              </a:rPr>
              <a:t>Recommendations</a:t>
            </a:r>
          </a:p>
          <a:p>
            <a:r>
              <a:rPr lang="en-US" sz="2000" dirty="0">
                <a:latin typeface="Calibri" panose="020F0502020204030204" pitchFamily="34" charset="0"/>
                <a:ea typeface="Calibri" panose="020F0502020204030204" pitchFamily="34" charset="0"/>
                <a:cs typeface="Calibri" panose="020F0502020204030204" pitchFamily="34" charset="0"/>
              </a:rPr>
              <a:t>➤ Hotels should focus on delivering consistent service and essential amenities rather than increasing prices to improve ratings.</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 OYO should strengthen budget and mid-range offerings and promote Wizard membership to attract price-sensitive customers.</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 City-based pricing strategies should be optimized so hotels stay competitive while customers receive fair value.</a:t>
            </a:r>
          </a:p>
        </p:txBody>
      </p:sp>
    </p:spTree>
    <p:extLst>
      <p:ext uri="{BB962C8B-B14F-4D97-AF65-F5344CB8AC3E}">
        <p14:creationId xmlns:p14="http://schemas.microsoft.com/office/powerpoint/2010/main" val="41615761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B9DEF-89CA-A2D6-D3EC-477F8E778C84}"/>
              </a:ext>
            </a:extLst>
          </p:cNvPr>
          <p:cNvSpPr>
            <a:spLocks noGrp="1"/>
          </p:cNvSpPr>
          <p:nvPr>
            <p:ph type="title"/>
          </p:nvPr>
        </p:nvSpPr>
        <p:spPr>
          <a:xfrm>
            <a:off x="254000" y="193675"/>
            <a:ext cx="11342914" cy="904875"/>
          </a:xfrm>
        </p:spPr>
        <p:txBody>
          <a:bodyPr>
            <a:noAutofit/>
          </a:bodyPr>
          <a:lstStyle/>
          <a:p>
            <a:r>
              <a:rPr lang="en-IN" sz="2800" b="1" dirty="0">
                <a:solidFill>
                  <a:schemeClr val="tx1"/>
                </a:solidFill>
                <a:latin typeface="Times New Roman" panose="02020603050405020304" pitchFamily="18" charset="0"/>
                <a:cs typeface="Times New Roman" panose="02020603050405020304" pitchFamily="18" charset="0"/>
              </a:rPr>
              <a:t>CONCLUSIONS:</a:t>
            </a:r>
          </a:p>
        </p:txBody>
      </p:sp>
      <p:sp>
        <p:nvSpPr>
          <p:cNvPr id="4" name="Rectangle 1">
            <a:extLst>
              <a:ext uri="{FF2B5EF4-FFF2-40B4-BE49-F238E27FC236}">
                <a16:creationId xmlns:a16="http://schemas.microsoft.com/office/drawing/2014/main" id="{B3B7422F-A42C-D0BC-BCC8-74FDAE65E36E}"/>
              </a:ext>
            </a:extLst>
          </p:cNvPr>
          <p:cNvSpPr>
            <a:spLocks noChangeArrowheads="1"/>
          </p:cNvSpPr>
          <p:nvPr/>
        </p:nvSpPr>
        <p:spPr bwMode="auto">
          <a:xfrm>
            <a:off x="254000" y="1098550"/>
            <a:ext cx="10182679" cy="296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Budget and mid-range hotels attract most customers, showing strong demand for affordable stays.</a:t>
            </a:r>
          </a:p>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Higher hotel prices do not always result in better customer ratings; service quality matters more.</a:t>
            </a:r>
          </a:p>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Hotel pricing varies significantly across cities and hotel types, with metro cities generally being more expensive.</a:t>
            </a:r>
          </a:p>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Data-driven analysis helps hotels improve pricing decisions and helps customers choose value-for-money options.</a:t>
            </a:r>
          </a:p>
          <a:p>
            <a:pPr marR="0" lvl="0" algn="l" defTabSz="914400" rtl="0" eaLnBrk="0" fontAlgn="base" latinLnBrk="0" hangingPunct="0">
              <a:lnSpc>
                <a:spcPct val="15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46870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B056F-9062-30AD-DC3E-EDA58FCBDC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D0E098-0529-B472-5056-1F631A096169}"/>
              </a:ext>
            </a:extLst>
          </p:cNvPr>
          <p:cNvSpPr>
            <a:spLocks noGrp="1"/>
          </p:cNvSpPr>
          <p:nvPr>
            <p:ph type="title"/>
          </p:nvPr>
        </p:nvSpPr>
        <p:spPr>
          <a:xfrm>
            <a:off x="-425450" y="174625"/>
            <a:ext cx="7346950" cy="771525"/>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Experiences &amp; Challenges:</a:t>
            </a:r>
          </a:p>
        </p:txBody>
      </p:sp>
      <p:sp>
        <p:nvSpPr>
          <p:cNvPr id="3" name="Rectangle 1">
            <a:extLst>
              <a:ext uri="{FF2B5EF4-FFF2-40B4-BE49-F238E27FC236}">
                <a16:creationId xmlns:a16="http://schemas.microsoft.com/office/drawing/2014/main" id="{397224C5-28B7-7EE8-34EA-5814746E98AA}"/>
              </a:ext>
            </a:extLst>
          </p:cNvPr>
          <p:cNvSpPr>
            <a:spLocks noChangeArrowheads="1"/>
          </p:cNvSpPr>
          <p:nvPr/>
        </p:nvSpPr>
        <p:spPr bwMode="auto">
          <a:xfrm>
            <a:off x="747486" y="1252091"/>
            <a:ext cx="975360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 Collected hotel data from the OYO website and handled challenges while extracting information from web pages.</a:t>
            </a:r>
          </a:p>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Faced missing values, duplicate records, and inconsistent text formats, and cleaned the data using Python and regex techniques.</a:t>
            </a:r>
          </a:p>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Created meaningful new columns such as price categories, rating categories, popularity score, and amenity count for better analysis.</a:t>
            </a:r>
          </a:p>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Managed large datasets and organized the data properly to make analysis and visualization easier.</a:t>
            </a:r>
          </a:p>
          <a:p>
            <a:pPr marL="342900" indent="-342900">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Used appropriate and clear visualizations to explain pricing, ratings, and customer behavior from both business and customer perspectives.</a:t>
            </a:r>
          </a:p>
        </p:txBody>
      </p:sp>
    </p:spTree>
    <p:extLst>
      <p:ext uri="{BB962C8B-B14F-4D97-AF65-F5344CB8AC3E}">
        <p14:creationId xmlns:p14="http://schemas.microsoft.com/office/powerpoint/2010/main" val="13635717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2052" name="Picture 4">
            <a:extLst>
              <a:ext uri="{FF2B5EF4-FFF2-40B4-BE49-F238E27FC236}">
                <a16:creationId xmlns:a16="http://schemas.microsoft.com/office/drawing/2014/main" id="{74466DAD-25FF-3D8F-1EEE-78F17B055B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7475" y="174503"/>
            <a:ext cx="9417049" cy="588650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F1FB5D26-1BC2-45B5-5BCB-F1DF929FBFB9}"/>
            </a:ext>
          </a:extLst>
        </p:cNvPr>
        <p:cNvGrpSpPr/>
        <p:nvPr/>
      </p:nvGrpSpPr>
      <p:grpSpPr>
        <a:xfrm>
          <a:off x="0" y="0"/>
          <a:ext cx="0" cy="0"/>
          <a:chOff x="0" y="0"/>
          <a:chExt cx="0" cy="0"/>
        </a:xfrm>
      </p:grpSpPr>
      <p:pic>
        <p:nvPicPr>
          <p:cNvPr id="116" name="Google Shape;116;p5">
            <a:extLst>
              <a:ext uri="{FF2B5EF4-FFF2-40B4-BE49-F238E27FC236}">
                <a16:creationId xmlns:a16="http://schemas.microsoft.com/office/drawing/2014/main" id="{A30C4859-54E9-B096-0C07-32BA83755F2E}"/>
              </a:ext>
            </a:extLst>
          </p:cNvPr>
          <p:cNvPicPr preferRelativeResize="0"/>
          <p:nvPr/>
        </p:nvPicPr>
        <p:blipFill rotWithShape="1">
          <a:blip r:embed="rId3">
            <a:alphaModFix/>
          </a:blip>
          <a:srcRect/>
          <a:stretch/>
        </p:blipFill>
        <p:spPr>
          <a:xfrm>
            <a:off x="3863178" y="2601247"/>
            <a:ext cx="4465643" cy="2834317"/>
          </a:xfrm>
          <a:prstGeom prst="rect">
            <a:avLst/>
          </a:prstGeom>
          <a:noFill/>
          <a:ln>
            <a:noFill/>
          </a:ln>
        </p:spPr>
      </p:pic>
      <p:sp>
        <p:nvSpPr>
          <p:cNvPr id="117" name="Google Shape;117;p5">
            <a:extLst>
              <a:ext uri="{FF2B5EF4-FFF2-40B4-BE49-F238E27FC236}">
                <a16:creationId xmlns:a16="http://schemas.microsoft.com/office/drawing/2014/main" id="{42F01092-7308-BBFE-4137-EAAC184D440C}"/>
              </a:ext>
            </a:extLst>
          </p:cNvPr>
          <p:cNvSpPr txBox="1"/>
          <p:nvPr/>
        </p:nvSpPr>
        <p:spPr>
          <a:xfrm>
            <a:off x="3983084" y="1081308"/>
            <a:ext cx="4716253"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26306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barn(inVertical)">
                                      <p:cBhvr>
                                        <p:cTn id="7" dur="5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879</TotalTime>
  <Words>2356</Words>
  <Application>Microsoft Office PowerPoint</Application>
  <PresentationFormat>Widescreen</PresentationFormat>
  <Paragraphs>162</Paragraphs>
  <Slides>32</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Times New Roman</vt:lpstr>
      <vt:lpstr>Calibri</vt:lpstr>
      <vt:lpstr>Arial</vt:lpstr>
      <vt:lpstr>Wingdings</vt:lpstr>
      <vt:lpstr>Libre Baskerville</vt:lpstr>
      <vt:lpstr>Office Theme</vt:lpstr>
      <vt:lpstr>PowerPoint Presentation</vt:lpstr>
      <vt:lpstr>About Me:</vt:lpstr>
      <vt:lpstr>Preface:</vt:lpstr>
      <vt:lpstr>Introduction:</vt:lpstr>
      <vt:lpstr>Business Problem:</vt:lpstr>
      <vt:lpstr>Objectives:</vt:lpstr>
      <vt:lpstr>Web Scraping:</vt:lpstr>
      <vt:lpstr>PowerPoint Presentation</vt:lpstr>
      <vt:lpstr> Dataset:</vt:lpstr>
      <vt:lpstr>Tools Used:</vt:lpstr>
      <vt:lpstr>Data Cleaning Steps:</vt:lpstr>
      <vt:lpstr> Univariate Analysis:  Distribution of OYO Hotel Final  Prices</vt:lpstr>
      <vt:lpstr>      City-wise Distribution of OYO Hotels </vt:lpstr>
      <vt:lpstr>  Distribution of OYO Hotel Ratings</vt:lpstr>
      <vt:lpstr>  Distribution of OYO Hotel Rating Categories</vt:lpstr>
      <vt:lpstr>  Distribution of OYO Hotels by Hotel Type</vt:lpstr>
      <vt:lpstr>  Price Category Distribution of OYO Hotels</vt:lpstr>
      <vt:lpstr> Bivariate Analysis:  City-wise Comparison of OYO Hotel Final Prices</vt:lpstr>
      <vt:lpstr> Price Category vs Rating Category Analysis</vt:lpstr>
      <vt:lpstr>Impact of Wizard Membership on Hotel Prices</vt:lpstr>
      <vt:lpstr>Amenity Availability Across Different OYO Hotel Types</vt:lpstr>
      <vt:lpstr>   Price Category Distribution Across OYO Hotel Types</vt:lpstr>
      <vt:lpstr>Top Cities Based on Review-Weighted Ratings</vt:lpstr>
      <vt:lpstr>Multivariate Analysis City &amp; Hotel Type Pricing Landscape (Median Prices) </vt:lpstr>
      <vt:lpstr>Key Numerical Factors Influencing Final Hotel Price</vt:lpstr>
      <vt:lpstr>Relationship Between Final Price and Tax Amount Across Cities</vt:lpstr>
      <vt:lpstr>Impact of Amenities on Final Price Across Hotel Types</vt:lpstr>
      <vt:lpstr>FINAL BUSINESS INSIGHTS AND RECOMMENDATIONS:</vt:lpstr>
      <vt:lpstr>CONCLUSIONS:</vt:lpstr>
      <vt:lpstr>Experiences &amp; Challenges: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masireddy vamshidhar reddy</cp:lastModifiedBy>
  <cp:revision>28</cp:revision>
  <dcterms:created xsi:type="dcterms:W3CDTF">2021-02-16T05:19:01Z</dcterms:created>
  <dcterms:modified xsi:type="dcterms:W3CDTF">2026-01-09T08:54:26Z</dcterms:modified>
</cp:coreProperties>
</file>